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Lst>
  <p:sldSz cx="18288000" cy="10287000"/>
  <p:notesSz cx="6858000" cy="9144000"/>
  <p:embeddedFontLst>
    <p:embeddedFont>
      <p:font typeface="Arsenica Antiqua" charset="1" panose="00000500000000000000"/>
      <p:regular r:id="rId29"/>
    </p:embeddedFont>
    <p:embeddedFont>
      <p:font typeface="Rugrats Sans" charset="1" panose="00000000000000000000"/>
      <p:regular r:id="rId3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fonts/font29.fntdata" Type="http://schemas.openxmlformats.org/officeDocument/2006/relationships/font"/><Relationship Id="rId3" Target="viewProps.xml" Type="http://schemas.openxmlformats.org/officeDocument/2006/relationships/viewProps"/><Relationship Id="rId30" Target="fonts/font30.fntdata" Type="http://schemas.openxmlformats.org/officeDocument/2006/relationships/font"/><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svg" Type="http://schemas.openxmlformats.org/officeDocument/2006/relationships/image"/><Relationship Id="rId4" Target="../media/image8.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svg" Type="http://schemas.openxmlformats.org/officeDocument/2006/relationships/image"/><Relationship Id="rId4" Target="../media/image11.jpe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svg" Type="http://schemas.openxmlformats.org/officeDocument/2006/relationships/image"/><Relationship Id="rId4" Target="../media/image12.jpe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sv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svg" Type="http://schemas.openxmlformats.org/officeDocument/2006/relationships/image"/><Relationship Id="rId4" Target="../media/image13.jpe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sv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svg" Type="http://schemas.openxmlformats.org/officeDocument/2006/relationships/image"/><Relationship Id="rId4" Target="../media/image14.jpe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svg" Type="http://schemas.openxmlformats.org/officeDocument/2006/relationships/image"/><Relationship Id="rId4" Target="../media/image15.jpe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sv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png" Type="http://schemas.openxmlformats.org/officeDocument/2006/relationships/image"/><Relationship Id="rId3" Target="../media/image17.svg" Type="http://schemas.openxmlformats.org/officeDocument/2006/relationships/image"/><Relationship Id="rId4" Target="../media/image18.jpe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8001000" cy="10287000"/>
            <a:chOff x="0" y="0"/>
            <a:chExt cx="2107259" cy="2709333"/>
          </a:xfrm>
        </p:grpSpPr>
        <p:sp>
          <p:nvSpPr>
            <p:cNvPr name="Freeform 3" id="3"/>
            <p:cNvSpPr/>
            <p:nvPr/>
          </p:nvSpPr>
          <p:spPr>
            <a:xfrm flipH="false" flipV="false" rot="0">
              <a:off x="0" y="0"/>
              <a:ext cx="2107259" cy="2709333"/>
            </a:xfrm>
            <a:custGeom>
              <a:avLst/>
              <a:gdLst/>
              <a:ahLst/>
              <a:cxnLst/>
              <a:rect r="r" b="b" t="t" l="l"/>
              <a:pathLst>
                <a:path h="2709333" w="2107259">
                  <a:moveTo>
                    <a:pt x="0" y="0"/>
                  </a:moveTo>
                  <a:lnTo>
                    <a:pt x="2107259" y="0"/>
                  </a:lnTo>
                  <a:lnTo>
                    <a:pt x="2107259" y="2709333"/>
                  </a:lnTo>
                  <a:lnTo>
                    <a:pt x="0" y="2709333"/>
                  </a:lnTo>
                  <a:close/>
                </a:path>
              </a:pathLst>
            </a:custGeom>
            <a:solidFill>
              <a:srgbClr val="F4F4F4"/>
            </a:solidFill>
          </p:spPr>
        </p:sp>
        <p:sp>
          <p:nvSpPr>
            <p:cNvPr name="TextBox 4" id="4"/>
            <p:cNvSpPr txBox="true"/>
            <p:nvPr/>
          </p:nvSpPr>
          <p:spPr>
            <a:xfrm>
              <a:off x="0" y="-114300"/>
              <a:ext cx="2107259" cy="2823633"/>
            </a:xfrm>
            <a:prstGeom prst="rect">
              <a:avLst/>
            </a:prstGeom>
          </p:spPr>
          <p:txBody>
            <a:bodyPr anchor="ctr" rtlCol="false" tIns="50800" lIns="50800" bIns="50800" rIns="50800"/>
            <a:lstStyle/>
            <a:p>
              <a:pPr algn="ctr" marL="0" indent="0" lvl="0">
                <a:lnSpc>
                  <a:spcPts val="3500"/>
                </a:lnSpc>
              </a:pPr>
            </a:p>
          </p:txBody>
        </p:sp>
      </p:grpSp>
      <p:sp>
        <p:nvSpPr>
          <p:cNvPr name="TextBox 5" id="5"/>
          <p:cNvSpPr txBox="true"/>
          <p:nvPr/>
        </p:nvSpPr>
        <p:spPr>
          <a:xfrm rot="0">
            <a:off x="666750" y="571500"/>
            <a:ext cx="6886575" cy="4302761"/>
          </a:xfrm>
          <a:prstGeom prst="rect">
            <a:avLst/>
          </a:prstGeom>
        </p:spPr>
        <p:txBody>
          <a:bodyPr anchor="t" rtlCol="false" tIns="0" lIns="0" bIns="0" rIns="0">
            <a:spAutoFit/>
          </a:bodyPr>
          <a:lstStyle/>
          <a:p>
            <a:pPr algn="l" marL="0" indent="0" lvl="0">
              <a:lnSpc>
                <a:spcPts val="10400"/>
              </a:lnSpc>
            </a:pPr>
            <a:r>
              <a:rPr lang="en-US" sz="10400" u="none">
                <a:solidFill>
                  <a:srgbClr val="1E2A78"/>
                </a:solidFill>
                <a:latin typeface="Arsenica Antiqua"/>
                <a:ea typeface="Arsenica Antiqua"/>
                <a:cs typeface="Arsenica Antiqua"/>
                <a:sym typeface="Arsenica Antiqua"/>
              </a:rPr>
              <a:t>Thiết kế bài thuyết trình VQA</a:t>
            </a:r>
          </a:p>
        </p:txBody>
      </p:sp>
      <p:sp>
        <p:nvSpPr>
          <p:cNvPr name="Freeform 6" id="6"/>
          <p:cNvSpPr/>
          <p:nvPr/>
        </p:nvSpPr>
        <p:spPr>
          <a:xfrm flipH="false" flipV="false" rot="0">
            <a:off x="8001000" y="0"/>
            <a:ext cx="10287000" cy="10287000"/>
          </a:xfrm>
          <a:custGeom>
            <a:avLst/>
            <a:gdLst/>
            <a:ahLst/>
            <a:cxnLst/>
            <a:rect r="r" b="b" t="t" l="l"/>
            <a:pathLst>
              <a:path h="10287000" w="10287000">
                <a:moveTo>
                  <a:pt x="0" y="0"/>
                </a:moveTo>
                <a:lnTo>
                  <a:pt x="10287000" y="0"/>
                </a:lnTo>
                <a:lnTo>
                  <a:pt x="10287000" y="10287000"/>
                </a:lnTo>
                <a:lnTo>
                  <a:pt x="0" y="10287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7" id="7"/>
          <p:cNvGrpSpPr/>
          <p:nvPr/>
        </p:nvGrpSpPr>
        <p:grpSpPr>
          <a:xfrm rot="0">
            <a:off x="9029700" y="1028700"/>
            <a:ext cx="8229600" cy="8229600"/>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4"/>
              <a:stretch>
                <a:fillRect l="0" t="0" r="0" b="0"/>
              </a:stretch>
            </a:blipFill>
          </p:spPr>
        </p:sp>
      </p:gr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174349" y="0"/>
            <a:ext cx="6155924" cy="10269368"/>
          </a:xfrm>
          <a:custGeom>
            <a:avLst/>
            <a:gdLst/>
            <a:ahLst/>
            <a:cxnLst/>
            <a:rect r="r" b="b" t="t" l="l"/>
            <a:pathLst>
              <a:path h="10269368" w="6155924">
                <a:moveTo>
                  <a:pt x="0" y="0"/>
                </a:moveTo>
                <a:lnTo>
                  <a:pt x="6155924" y="0"/>
                </a:lnTo>
                <a:lnTo>
                  <a:pt x="6155924" y="10269368"/>
                </a:lnTo>
                <a:lnTo>
                  <a:pt x="0" y="10269368"/>
                </a:lnTo>
                <a:lnTo>
                  <a:pt x="0" y="0"/>
                </a:lnTo>
                <a:close/>
              </a:path>
            </a:pathLst>
          </a:custGeom>
          <a:blipFill>
            <a:blip r:embed="rId2">
              <a:extLst>
                <a:ext uri="{96DAC541-7B7A-43D3-8B79-37D633B846F1}">
                  <asvg:svgBlip xmlns:asvg="http://schemas.microsoft.com/office/drawing/2016/SVG/main" r:embed="rId3"/>
                </a:ext>
              </a:extLst>
            </a:blip>
            <a:stretch>
              <a:fillRect l="-66820" t="0" r="0" b="0"/>
            </a:stretch>
          </a:blipFill>
        </p:spPr>
      </p:sp>
      <p:sp>
        <p:nvSpPr>
          <p:cNvPr name="TextBox 3" id="3"/>
          <p:cNvSpPr txBox="true"/>
          <p:nvPr/>
        </p:nvSpPr>
        <p:spPr>
          <a:xfrm rot="0">
            <a:off x="6419850" y="8251822"/>
            <a:ext cx="8324850" cy="1368428"/>
          </a:xfrm>
          <a:prstGeom prst="rect">
            <a:avLst/>
          </a:prstGeom>
        </p:spPr>
        <p:txBody>
          <a:bodyPr anchor="t" rtlCol="false" tIns="0" lIns="0" bIns="0" rIns="0">
            <a:spAutoFit/>
          </a:bodyPr>
          <a:lstStyle/>
          <a:p>
            <a:pPr algn="l" marL="0" indent="0" lvl="0">
              <a:lnSpc>
                <a:spcPts val="8500"/>
              </a:lnSpc>
              <a:spcBef>
                <a:spcPct val="0"/>
              </a:spcBef>
            </a:pPr>
            <a:r>
              <a:rPr lang="en-US" sz="8500" strike="noStrike" u="none">
                <a:solidFill>
                  <a:srgbClr val="1E2A78"/>
                </a:solidFill>
                <a:latin typeface="Arsenica Antiqua"/>
                <a:ea typeface="Arsenica Antiqua"/>
                <a:cs typeface="Arsenica Antiqua"/>
                <a:sym typeface="Arsenica Antiqua"/>
              </a:rPr>
              <a:t>Giới thiệu VQA</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0287000" cy="10287000"/>
          </a:xfrm>
          <a:custGeom>
            <a:avLst/>
            <a:gdLst/>
            <a:ahLst/>
            <a:cxnLst/>
            <a:rect r="r" b="b" t="t" l="l"/>
            <a:pathLst>
              <a:path h="10287000" w="10287000">
                <a:moveTo>
                  <a:pt x="0" y="0"/>
                </a:moveTo>
                <a:lnTo>
                  <a:pt x="10287000" y="0"/>
                </a:lnTo>
                <a:lnTo>
                  <a:pt x="10287000" y="10287000"/>
                </a:lnTo>
                <a:lnTo>
                  <a:pt x="0" y="10287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028700" y="1028700"/>
            <a:ext cx="8229600" cy="8229600"/>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4"/>
              <a:stretch>
                <a:fillRect l="0" t="0" r="0" b="0"/>
              </a:stretch>
            </a:blipFill>
          </p:spPr>
        </p:sp>
      </p:grpSp>
      <p:sp>
        <p:nvSpPr>
          <p:cNvPr name="TextBox 5" id="5"/>
          <p:cNvSpPr txBox="true"/>
          <p:nvPr/>
        </p:nvSpPr>
        <p:spPr>
          <a:xfrm rot="0">
            <a:off x="10734675" y="8409305"/>
            <a:ext cx="6886575" cy="1210945"/>
          </a:xfrm>
          <a:prstGeom prst="rect">
            <a:avLst/>
          </a:prstGeom>
        </p:spPr>
        <p:txBody>
          <a:bodyPr anchor="t" rtlCol="false" tIns="0" lIns="0" bIns="0" rIns="0">
            <a:spAutoFit/>
          </a:bodyPr>
          <a:lstStyle/>
          <a:p>
            <a:pPr algn="l" marL="0" indent="0" lvl="0">
              <a:lnSpc>
                <a:spcPts val="3079"/>
              </a:lnSpc>
              <a:spcBef>
                <a:spcPct val="0"/>
              </a:spcBef>
            </a:pPr>
            <a:r>
              <a:rPr lang="en-US" sz="2199">
                <a:solidFill>
                  <a:srgbClr val="000000"/>
                </a:solidFill>
                <a:latin typeface="Rugrats Sans"/>
                <a:ea typeface="Rugrats Sans"/>
                <a:cs typeface="Rugrats Sans"/>
                <a:sym typeface="Rugrats Sans"/>
              </a:rPr>
              <a:t>Visual Question Answering (VQA) là hệ thống </a:t>
            </a:r>
            <a:r>
              <a:rPr lang="en-US" sz="2199">
                <a:solidFill>
                  <a:srgbClr val="000000"/>
                </a:solidFill>
                <a:latin typeface="Rugrats Sans"/>
                <a:ea typeface="Rugrats Sans"/>
                <a:cs typeface="Rugrats Sans"/>
                <a:sym typeface="Rugrats Sans"/>
              </a:rPr>
              <a:t>trả lời câu hỏi dựa trên hình ảnh</a:t>
            </a:r>
            <a:r>
              <a:rPr lang="en-US" sz="2199">
                <a:solidFill>
                  <a:srgbClr val="000000"/>
                </a:solidFill>
                <a:latin typeface="Rugrats Sans"/>
                <a:ea typeface="Rugrats Sans"/>
                <a:cs typeface="Rugrats Sans"/>
                <a:sym typeface="Rugrats Sans"/>
              </a:rPr>
              <a:t>, giúp hiểu rõ hơn về mối liên hệ giữa thị giác máy tính và ngôn ngữ tự nhiên trong AI.</a:t>
            </a:r>
          </a:p>
        </p:txBody>
      </p:sp>
      <p:grpSp>
        <p:nvGrpSpPr>
          <p:cNvPr name="Group 6" id="6"/>
          <p:cNvGrpSpPr/>
          <p:nvPr/>
        </p:nvGrpSpPr>
        <p:grpSpPr>
          <a:xfrm rot="0">
            <a:off x="10734675" y="666750"/>
            <a:ext cx="6886575" cy="3567430"/>
            <a:chOff x="0" y="0"/>
            <a:chExt cx="9182100" cy="4756573"/>
          </a:xfrm>
        </p:grpSpPr>
        <p:sp>
          <p:nvSpPr>
            <p:cNvPr name="TextBox 7" id="7"/>
            <p:cNvSpPr txBox="true"/>
            <p:nvPr/>
          </p:nvSpPr>
          <p:spPr>
            <a:xfrm rot="0">
              <a:off x="0" y="-76200"/>
              <a:ext cx="9182100" cy="3234271"/>
            </a:xfrm>
            <a:prstGeom prst="rect">
              <a:avLst/>
            </a:prstGeom>
          </p:spPr>
          <p:txBody>
            <a:bodyPr anchor="t" rtlCol="false" tIns="0" lIns="0" bIns="0" rIns="0">
              <a:spAutoFit/>
            </a:bodyPr>
            <a:lstStyle/>
            <a:p>
              <a:pPr algn="l" marL="0" indent="0" lvl="0">
                <a:lnSpc>
                  <a:spcPts val="8500"/>
                </a:lnSpc>
                <a:spcBef>
                  <a:spcPct val="0"/>
                </a:spcBef>
              </a:pPr>
              <a:r>
                <a:rPr lang="en-US" sz="8500">
                  <a:solidFill>
                    <a:srgbClr val="1E2A78"/>
                  </a:solidFill>
                  <a:latin typeface="Arsenica Antiqua"/>
                  <a:ea typeface="Arsenica Antiqua"/>
                  <a:cs typeface="Arsenica Antiqua"/>
                  <a:sym typeface="Arsenica Antiqua"/>
                </a:rPr>
                <a:t>Tổng quan về VQA</a:t>
              </a:r>
            </a:p>
          </p:txBody>
        </p:sp>
        <p:sp>
          <p:nvSpPr>
            <p:cNvPr name="TextBox 8" id="8"/>
            <p:cNvSpPr txBox="true"/>
            <p:nvPr/>
          </p:nvSpPr>
          <p:spPr>
            <a:xfrm rot="0">
              <a:off x="0" y="3543300"/>
              <a:ext cx="9182100" cy="1213273"/>
            </a:xfrm>
            <a:prstGeom prst="rect">
              <a:avLst/>
            </a:prstGeom>
          </p:spPr>
          <p:txBody>
            <a:bodyPr anchor="t" rtlCol="false" tIns="0" lIns="0" bIns="0" rIns="0">
              <a:spAutoFit/>
            </a:bodyPr>
            <a:lstStyle/>
            <a:p>
              <a:pPr algn="l" marL="0" indent="0" lvl="0">
                <a:lnSpc>
                  <a:spcPts val="3200"/>
                </a:lnSpc>
              </a:pPr>
              <a:r>
                <a:rPr lang="en-US" sz="3200">
                  <a:solidFill>
                    <a:srgbClr val="1E2A78"/>
                  </a:solidFill>
                  <a:latin typeface="Arsenica Antiqua"/>
                  <a:ea typeface="Arsenica Antiqua"/>
                  <a:cs typeface="Arsenica Antiqua"/>
                  <a:sym typeface="Arsenica Antiqua"/>
                </a:rPr>
                <a:t>Ý nghĩa và ứng dụng trong trí tuệ nhân tạo</a:t>
              </a:r>
            </a:p>
          </p:txBody>
        </p:sp>
      </p:gr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666750" y="590550"/>
            <a:ext cx="14077950" cy="1368428"/>
          </a:xfrm>
          <a:prstGeom prst="rect">
            <a:avLst/>
          </a:prstGeom>
        </p:spPr>
        <p:txBody>
          <a:bodyPr anchor="t" rtlCol="false" tIns="0" lIns="0" bIns="0" rIns="0">
            <a:spAutoFit/>
          </a:bodyPr>
          <a:lstStyle/>
          <a:p>
            <a:pPr algn="l" marL="0" indent="0" lvl="0">
              <a:lnSpc>
                <a:spcPts val="8500"/>
              </a:lnSpc>
              <a:spcBef>
                <a:spcPct val="0"/>
              </a:spcBef>
            </a:pPr>
            <a:r>
              <a:rPr lang="en-US" sz="8500" spc="-144">
                <a:solidFill>
                  <a:srgbClr val="1E2A78"/>
                </a:solidFill>
                <a:latin typeface="Arsenica Antiqua"/>
                <a:ea typeface="Arsenica Antiqua"/>
                <a:cs typeface="Arsenica Antiqua"/>
                <a:sym typeface="Arsenica Antiqua"/>
              </a:rPr>
              <a:t>Tổng quan về VQA</a:t>
            </a:r>
          </a:p>
        </p:txBody>
      </p:sp>
      <p:grpSp>
        <p:nvGrpSpPr>
          <p:cNvPr name="Group 3" id="3"/>
          <p:cNvGrpSpPr/>
          <p:nvPr/>
        </p:nvGrpSpPr>
        <p:grpSpPr>
          <a:xfrm rot="0">
            <a:off x="666750" y="6309360"/>
            <a:ext cx="6886575" cy="3310890"/>
            <a:chOff x="0" y="0"/>
            <a:chExt cx="9182100" cy="4414519"/>
          </a:xfrm>
        </p:grpSpPr>
        <p:sp>
          <p:nvSpPr>
            <p:cNvPr name="AutoShape 4" id="4"/>
            <p:cNvSpPr/>
            <p:nvPr/>
          </p:nvSpPr>
          <p:spPr>
            <a:xfrm flipH="true">
              <a:off x="0" y="19050"/>
              <a:ext cx="3429000" cy="0"/>
            </a:xfrm>
            <a:prstGeom prst="line">
              <a:avLst/>
            </a:prstGeom>
            <a:ln cap="flat" w="38100">
              <a:solidFill>
                <a:srgbClr val="000000"/>
              </a:solidFill>
              <a:prstDash val="solid"/>
              <a:headEnd type="none" len="sm" w="sm"/>
              <a:tailEnd type="none" len="sm" w="sm"/>
            </a:ln>
          </p:spPr>
        </p:sp>
        <p:sp>
          <p:nvSpPr>
            <p:cNvPr name="TextBox 5" id="5"/>
            <p:cNvSpPr txBox="true"/>
            <p:nvPr/>
          </p:nvSpPr>
          <p:spPr>
            <a:xfrm rot="0">
              <a:off x="0" y="1790277"/>
              <a:ext cx="9182100" cy="2624243"/>
            </a:xfrm>
            <a:prstGeom prst="rect">
              <a:avLst/>
            </a:prstGeom>
          </p:spPr>
          <p:txBody>
            <a:bodyPr anchor="t" rtlCol="false" tIns="0" lIns="0" bIns="0" rIns="0">
              <a:spAutoFit/>
            </a:bodyPr>
            <a:lstStyle/>
            <a:p>
              <a:pPr algn="l" marL="474984" indent="-237492" lvl="1">
                <a:lnSpc>
                  <a:spcPts val="3080"/>
                </a:lnSpc>
                <a:buFont typeface="Arial"/>
                <a:buChar char="•"/>
              </a:pPr>
              <a:r>
                <a:rPr lang="en-US" sz="2200" strike="noStrike" u="none">
                  <a:solidFill>
                    <a:srgbClr val="000000"/>
                  </a:solidFill>
                  <a:latin typeface="Rugrats Sans"/>
                  <a:ea typeface="Rugrats Sans"/>
                  <a:cs typeface="Rugrats Sans"/>
                  <a:sym typeface="Rugrats Sans"/>
                </a:rPr>
                <a:t>Hệ thống trả lời câu hỏi</a:t>
              </a:r>
            </a:p>
            <a:p>
              <a:pPr algn="l" marL="474984" indent="-237492" lvl="1">
                <a:lnSpc>
                  <a:spcPts val="3080"/>
                </a:lnSpc>
                <a:buFont typeface="Arial"/>
                <a:buChar char="•"/>
              </a:pPr>
              <a:r>
                <a:rPr lang="en-US" sz="2200" strike="noStrike" u="none">
                  <a:solidFill>
                    <a:srgbClr val="000000"/>
                  </a:solidFill>
                  <a:latin typeface="Rugrats Sans"/>
                  <a:ea typeface="Rugrats Sans"/>
                  <a:cs typeface="Rugrats Sans"/>
                  <a:sym typeface="Rugrats Sans"/>
                </a:rPr>
                <a:t>Giao thoa giữa AI và ngôn ngữ</a:t>
              </a:r>
            </a:p>
            <a:p>
              <a:pPr algn="l" marL="474984" indent="-237492" lvl="1">
                <a:lnSpc>
                  <a:spcPts val="3080"/>
                </a:lnSpc>
                <a:buFont typeface="Arial"/>
                <a:buChar char="•"/>
              </a:pPr>
              <a:r>
                <a:rPr lang="en-US" sz="2200" strike="noStrike" u="none">
                  <a:solidFill>
                    <a:srgbClr val="000000"/>
                  </a:solidFill>
                  <a:latin typeface="Rugrats Sans"/>
                  <a:ea typeface="Rugrats Sans"/>
                  <a:cs typeface="Rugrats Sans"/>
                  <a:sym typeface="Rugrats Sans"/>
                </a:rPr>
                <a:t>Ứng dụng trong hiểu đa phương thức</a:t>
              </a:r>
            </a:p>
            <a:p>
              <a:pPr algn="l" marL="474984" indent="-237492" lvl="1">
                <a:lnSpc>
                  <a:spcPts val="3080"/>
                </a:lnSpc>
                <a:buFont typeface="Arial"/>
                <a:buChar char="•"/>
              </a:pPr>
              <a:r>
                <a:rPr lang="en-US" sz="2200" strike="noStrike" u="none">
                  <a:solidFill>
                    <a:srgbClr val="000000"/>
                  </a:solidFill>
                  <a:latin typeface="Rugrats Sans"/>
                  <a:ea typeface="Rugrats Sans"/>
                  <a:cs typeface="Rugrats Sans"/>
                  <a:sym typeface="Rugrats Sans"/>
                </a:rPr>
                <a:t>Tích hợp thị giác máy tính</a:t>
              </a:r>
            </a:p>
            <a:p>
              <a:pPr algn="l" marL="474984" indent="-237492" lvl="1">
                <a:lnSpc>
                  <a:spcPts val="3080"/>
                </a:lnSpc>
                <a:buFont typeface="Arial"/>
                <a:buChar char="•"/>
              </a:pPr>
              <a:r>
                <a:rPr lang="en-US" sz="2200" strike="noStrike" u="none">
                  <a:solidFill>
                    <a:srgbClr val="000000"/>
                  </a:solidFill>
                  <a:latin typeface="Rugrats Sans"/>
                  <a:ea typeface="Rugrats Sans"/>
                  <a:cs typeface="Rugrats Sans"/>
                  <a:sym typeface="Rugrats Sans"/>
                </a:rPr>
                <a:t>Giải pháp cho các bài toán thực tế</a:t>
              </a:r>
            </a:p>
          </p:txBody>
        </p:sp>
        <p:sp>
          <p:nvSpPr>
            <p:cNvPr name="TextBox 6" id="6"/>
            <p:cNvSpPr txBox="true"/>
            <p:nvPr/>
          </p:nvSpPr>
          <p:spPr>
            <a:xfrm rot="0">
              <a:off x="0" y="497970"/>
              <a:ext cx="9182100" cy="541443"/>
            </a:xfrm>
            <a:prstGeom prst="rect">
              <a:avLst/>
            </a:prstGeom>
          </p:spPr>
          <p:txBody>
            <a:bodyPr anchor="t" rtlCol="false" tIns="0" lIns="0" bIns="0" rIns="0">
              <a:spAutoFit/>
            </a:bodyPr>
            <a:lstStyle/>
            <a:p>
              <a:pPr algn="l" marL="0" indent="0" lvl="0">
                <a:lnSpc>
                  <a:spcPts val="3080"/>
                </a:lnSpc>
                <a:spcBef>
                  <a:spcPct val="0"/>
                </a:spcBef>
              </a:pPr>
              <a:r>
                <a:rPr lang="en-US" sz="2200">
                  <a:solidFill>
                    <a:srgbClr val="000000"/>
                  </a:solidFill>
                  <a:latin typeface="Rugrats Sans"/>
                  <a:ea typeface="Rugrats Sans"/>
                  <a:cs typeface="Rugrats Sans"/>
                  <a:sym typeface="Rugrats Sans"/>
                </a:rPr>
                <a:t>Định nghĩa và ứng dụng thực tiễn</a:t>
              </a:r>
            </a:p>
          </p:txBody>
        </p:sp>
      </p:grpSp>
      <p:sp>
        <p:nvSpPr>
          <p:cNvPr name="Freeform 7" id="7"/>
          <p:cNvSpPr/>
          <p:nvPr/>
        </p:nvSpPr>
        <p:spPr>
          <a:xfrm flipH="false" flipV="false" rot="0">
            <a:off x="16725900" y="666750"/>
            <a:ext cx="895350" cy="895350"/>
          </a:xfrm>
          <a:custGeom>
            <a:avLst/>
            <a:gdLst/>
            <a:ahLst/>
            <a:cxnLst/>
            <a:rect r="r" b="b" t="t" l="l"/>
            <a:pathLst>
              <a:path h="895350" w="895350">
                <a:moveTo>
                  <a:pt x="0" y="0"/>
                </a:moveTo>
                <a:lnTo>
                  <a:pt x="895350" y="0"/>
                </a:lnTo>
                <a:lnTo>
                  <a:pt x="895350" y="895350"/>
                </a:lnTo>
                <a:lnTo>
                  <a:pt x="0" y="89535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174349" y="0"/>
            <a:ext cx="6155924" cy="10269368"/>
          </a:xfrm>
          <a:custGeom>
            <a:avLst/>
            <a:gdLst/>
            <a:ahLst/>
            <a:cxnLst/>
            <a:rect r="r" b="b" t="t" l="l"/>
            <a:pathLst>
              <a:path h="10269368" w="6155924">
                <a:moveTo>
                  <a:pt x="0" y="0"/>
                </a:moveTo>
                <a:lnTo>
                  <a:pt x="6155924" y="0"/>
                </a:lnTo>
                <a:lnTo>
                  <a:pt x="6155924" y="10269368"/>
                </a:lnTo>
                <a:lnTo>
                  <a:pt x="0" y="10269368"/>
                </a:lnTo>
                <a:lnTo>
                  <a:pt x="0" y="0"/>
                </a:lnTo>
                <a:close/>
              </a:path>
            </a:pathLst>
          </a:custGeom>
          <a:blipFill>
            <a:blip r:embed="rId2">
              <a:extLst>
                <a:ext uri="{96DAC541-7B7A-43D3-8B79-37D633B846F1}">
                  <asvg:svgBlip xmlns:asvg="http://schemas.microsoft.com/office/drawing/2016/SVG/main" r:embed="rId3"/>
                </a:ext>
              </a:extLst>
            </a:blip>
            <a:stretch>
              <a:fillRect l="-66820" t="0" r="0" b="0"/>
            </a:stretch>
          </a:blipFill>
        </p:spPr>
      </p:sp>
      <p:sp>
        <p:nvSpPr>
          <p:cNvPr name="TextBox 3" id="3"/>
          <p:cNvSpPr txBox="true"/>
          <p:nvPr/>
        </p:nvSpPr>
        <p:spPr>
          <a:xfrm rot="0">
            <a:off x="6419850" y="7175497"/>
            <a:ext cx="8324850" cy="2444753"/>
          </a:xfrm>
          <a:prstGeom prst="rect">
            <a:avLst/>
          </a:prstGeom>
        </p:spPr>
        <p:txBody>
          <a:bodyPr anchor="t" rtlCol="false" tIns="0" lIns="0" bIns="0" rIns="0">
            <a:spAutoFit/>
          </a:bodyPr>
          <a:lstStyle/>
          <a:p>
            <a:pPr algn="l" marL="0" indent="0" lvl="0">
              <a:lnSpc>
                <a:spcPts val="8500"/>
              </a:lnSpc>
              <a:spcBef>
                <a:spcPct val="0"/>
              </a:spcBef>
            </a:pPr>
            <a:r>
              <a:rPr lang="en-US" sz="8500" strike="noStrike" u="none">
                <a:solidFill>
                  <a:srgbClr val="1E2A78"/>
                </a:solidFill>
                <a:latin typeface="Arsenica Antiqua"/>
                <a:ea typeface="Arsenica Antiqua"/>
                <a:cs typeface="Arsenica Antiqua"/>
                <a:sym typeface="Arsenica Antiqua"/>
              </a:rPr>
              <a:t>Cấu trúc hệ thống VQA</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0287000" cy="10287000"/>
          </a:xfrm>
          <a:custGeom>
            <a:avLst/>
            <a:gdLst/>
            <a:ahLst/>
            <a:cxnLst/>
            <a:rect r="r" b="b" t="t" l="l"/>
            <a:pathLst>
              <a:path h="10287000" w="10287000">
                <a:moveTo>
                  <a:pt x="0" y="0"/>
                </a:moveTo>
                <a:lnTo>
                  <a:pt x="10287000" y="0"/>
                </a:lnTo>
                <a:lnTo>
                  <a:pt x="10287000" y="10287000"/>
                </a:lnTo>
                <a:lnTo>
                  <a:pt x="0" y="10287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028700" y="1028700"/>
            <a:ext cx="8229600" cy="8229600"/>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4"/>
              <a:stretch>
                <a:fillRect l="0" t="0" r="0" b="0"/>
              </a:stretch>
            </a:blipFill>
          </p:spPr>
        </p:sp>
      </p:grpSp>
      <p:sp>
        <p:nvSpPr>
          <p:cNvPr name="TextBox 5" id="5"/>
          <p:cNvSpPr txBox="true"/>
          <p:nvPr/>
        </p:nvSpPr>
        <p:spPr>
          <a:xfrm rot="0">
            <a:off x="10734675" y="8409305"/>
            <a:ext cx="6886575" cy="1210945"/>
          </a:xfrm>
          <a:prstGeom prst="rect">
            <a:avLst/>
          </a:prstGeom>
        </p:spPr>
        <p:txBody>
          <a:bodyPr anchor="t" rtlCol="false" tIns="0" lIns="0" bIns="0" rIns="0">
            <a:spAutoFit/>
          </a:bodyPr>
          <a:lstStyle/>
          <a:p>
            <a:pPr algn="l" marL="0" indent="0" lvl="0">
              <a:lnSpc>
                <a:spcPts val="3079"/>
              </a:lnSpc>
              <a:spcBef>
                <a:spcPct val="0"/>
              </a:spcBef>
            </a:pPr>
            <a:r>
              <a:rPr lang="en-US" sz="2199">
                <a:solidFill>
                  <a:srgbClr val="000000"/>
                </a:solidFill>
                <a:latin typeface="Rugrats Sans"/>
                <a:ea typeface="Rugrats Sans"/>
                <a:cs typeface="Rugrats Sans"/>
                <a:sym typeface="Rugrats Sans"/>
              </a:rPr>
              <a:t>Sơ đồ pipeline mô hình VQA này trình bày </a:t>
            </a:r>
            <a:r>
              <a:rPr lang="en-US" sz="2199">
                <a:solidFill>
                  <a:srgbClr val="000000"/>
                </a:solidFill>
                <a:latin typeface="Rugrats Sans"/>
                <a:ea typeface="Rugrats Sans"/>
                <a:cs typeface="Rugrats Sans"/>
                <a:sym typeface="Rugrats Sans"/>
              </a:rPr>
              <a:t>quy trình xử lý</a:t>
            </a:r>
            <a:r>
              <a:rPr lang="en-US" sz="2199">
                <a:solidFill>
                  <a:srgbClr val="000000"/>
                </a:solidFill>
                <a:latin typeface="Rugrats Sans"/>
                <a:ea typeface="Rugrats Sans"/>
                <a:cs typeface="Rugrats Sans"/>
                <a:sym typeface="Rugrats Sans"/>
              </a:rPr>
              <a:t> từ việc trích xuất đặc trưng hình ảnh đến sinh câu trả lời, giúp hiểu rõ hơn về từng giai đoạn trong VQA.</a:t>
            </a:r>
          </a:p>
        </p:txBody>
      </p:sp>
      <p:grpSp>
        <p:nvGrpSpPr>
          <p:cNvPr name="Group 6" id="6"/>
          <p:cNvGrpSpPr/>
          <p:nvPr/>
        </p:nvGrpSpPr>
        <p:grpSpPr>
          <a:xfrm rot="0">
            <a:off x="10734675" y="666750"/>
            <a:ext cx="6886575" cy="4643755"/>
            <a:chOff x="0" y="0"/>
            <a:chExt cx="9182100" cy="6191673"/>
          </a:xfrm>
        </p:grpSpPr>
        <p:sp>
          <p:nvSpPr>
            <p:cNvPr name="TextBox 7" id="7"/>
            <p:cNvSpPr txBox="true"/>
            <p:nvPr/>
          </p:nvSpPr>
          <p:spPr>
            <a:xfrm rot="0">
              <a:off x="0" y="-76200"/>
              <a:ext cx="9182100" cy="4669371"/>
            </a:xfrm>
            <a:prstGeom prst="rect">
              <a:avLst/>
            </a:prstGeom>
          </p:spPr>
          <p:txBody>
            <a:bodyPr anchor="t" rtlCol="false" tIns="0" lIns="0" bIns="0" rIns="0">
              <a:spAutoFit/>
            </a:bodyPr>
            <a:lstStyle/>
            <a:p>
              <a:pPr algn="l" marL="0" indent="0" lvl="0">
                <a:lnSpc>
                  <a:spcPts val="8500"/>
                </a:lnSpc>
                <a:spcBef>
                  <a:spcPct val="0"/>
                </a:spcBef>
              </a:pPr>
              <a:r>
                <a:rPr lang="en-US" sz="8500">
                  <a:solidFill>
                    <a:srgbClr val="1E2A78"/>
                  </a:solidFill>
                  <a:latin typeface="Arsenica Antiqua"/>
                  <a:ea typeface="Arsenica Antiqua"/>
                  <a:cs typeface="Arsenica Antiqua"/>
                  <a:sym typeface="Arsenica Antiqua"/>
                </a:rPr>
                <a:t>Thành phần chính trong VQA</a:t>
              </a:r>
            </a:p>
          </p:txBody>
        </p:sp>
        <p:sp>
          <p:nvSpPr>
            <p:cNvPr name="TextBox 8" id="8"/>
            <p:cNvSpPr txBox="true"/>
            <p:nvPr/>
          </p:nvSpPr>
          <p:spPr>
            <a:xfrm rot="0">
              <a:off x="0" y="4978400"/>
              <a:ext cx="9182100" cy="1213273"/>
            </a:xfrm>
            <a:prstGeom prst="rect">
              <a:avLst/>
            </a:prstGeom>
          </p:spPr>
          <p:txBody>
            <a:bodyPr anchor="t" rtlCol="false" tIns="0" lIns="0" bIns="0" rIns="0">
              <a:spAutoFit/>
            </a:bodyPr>
            <a:lstStyle/>
            <a:p>
              <a:pPr algn="l" marL="0" indent="0" lvl="0">
                <a:lnSpc>
                  <a:spcPts val="3200"/>
                </a:lnSpc>
              </a:pPr>
              <a:r>
                <a:rPr lang="en-US" sz="3200">
                  <a:solidFill>
                    <a:srgbClr val="1E2A78"/>
                  </a:solidFill>
                  <a:latin typeface="Arsenica Antiqua"/>
                  <a:ea typeface="Arsenica Antiqua"/>
                  <a:cs typeface="Arsenica Antiqua"/>
                  <a:sym typeface="Arsenica Antiqua"/>
                </a:rPr>
                <a:t>Phân tích quy trình mô hình VQA hiệu quả</a:t>
              </a:r>
            </a:p>
          </p:txBody>
        </p:sp>
      </p:gr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666750" y="590550"/>
            <a:ext cx="14077950" cy="1368428"/>
          </a:xfrm>
          <a:prstGeom prst="rect">
            <a:avLst/>
          </a:prstGeom>
        </p:spPr>
        <p:txBody>
          <a:bodyPr anchor="t" rtlCol="false" tIns="0" lIns="0" bIns="0" rIns="0">
            <a:spAutoFit/>
          </a:bodyPr>
          <a:lstStyle/>
          <a:p>
            <a:pPr algn="l" marL="0" indent="0" lvl="0">
              <a:lnSpc>
                <a:spcPts val="8500"/>
              </a:lnSpc>
              <a:spcBef>
                <a:spcPct val="0"/>
              </a:spcBef>
            </a:pPr>
            <a:r>
              <a:rPr lang="en-US" sz="8500" spc="-144">
                <a:solidFill>
                  <a:srgbClr val="1E2A78"/>
                </a:solidFill>
                <a:latin typeface="Arsenica Antiqua"/>
                <a:ea typeface="Arsenica Antiqua"/>
                <a:cs typeface="Arsenica Antiqua"/>
                <a:sym typeface="Arsenica Antiqua"/>
              </a:rPr>
              <a:t>Các thành phần chính</a:t>
            </a:r>
          </a:p>
        </p:txBody>
      </p:sp>
      <p:grpSp>
        <p:nvGrpSpPr>
          <p:cNvPr name="Group 3" id="3"/>
          <p:cNvGrpSpPr/>
          <p:nvPr/>
        </p:nvGrpSpPr>
        <p:grpSpPr>
          <a:xfrm rot="0">
            <a:off x="666750" y="6699885"/>
            <a:ext cx="6886575" cy="2920365"/>
            <a:chOff x="0" y="0"/>
            <a:chExt cx="9182100" cy="3893819"/>
          </a:xfrm>
        </p:grpSpPr>
        <p:sp>
          <p:nvSpPr>
            <p:cNvPr name="AutoShape 4" id="4"/>
            <p:cNvSpPr/>
            <p:nvPr/>
          </p:nvSpPr>
          <p:spPr>
            <a:xfrm flipH="true">
              <a:off x="0" y="19050"/>
              <a:ext cx="3429000" cy="0"/>
            </a:xfrm>
            <a:prstGeom prst="line">
              <a:avLst/>
            </a:prstGeom>
            <a:ln cap="flat" w="38100">
              <a:solidFill>
                <a:srgbClr val="000000"/>
              </a:solidFill>
              <a:prstDash val="solid"/>
              <a:headEnd type="none" len="sm" w="sm"/>
              <a:tailEnd type="none" len="sm" w="sm"/>
            </a:ln>
          </p:spPr>
        </p:sp>
        <p:sp>
          <p:nvSpPr>
            <p:cNvPr name="TextBox 5" id="5"/>
            <p:cNvSpPr txBox="true"/>
            <p:nvPr/>
          </p:nvSpPr>
          <p:spPr>
            <a:xfrm rot="0">
              <a:off x="0" y="1790277"/>
              <a:ext cx="9182100" cy="2103543"/>
            </a:xfrm>
            <a:prstGeom prst="rect">
              <a:avLst/>
            </a:prstGeom>
          </p:spPr>
          <p:txBody>
            <a:bodyPr anchor="t" rtlCol="false" tIns="0" lIns="0" bIns="0" rIns="0">
              <a:spAutoFit/>
            </a:bodyPr>
            <a:lstStyle/>
            <a:p>
              <a:pPr algn="l" marL="474984" indent="-237492" lvl="1">
                <a:lnSpc>
                  <a:spcPts val="3080"/>
                </a:lnSpc>
                <a:buFont typeface="Arial"/>
                <a:buChar char="•"/>
              </a:pPr>
              <a:r>
                <a:rPr lang="en-US" sz="2200" strike="noStrike" u="none">
                  <a:solidFill>
                    <a:srgbClr val="000000"/>
                  </a:solidFill>
                  <a:latin typeface="Rugrats Sans"/>
                  <a:ea typeface="Rugrats Sans"/>
                  <a:cs typeface="Rugrats Sans"/>
                  <a:sym typeface="Rugrats Sans"/>
                </a:rPr>
                <a:t>Trích xuất đặc trưng hình ảnh</a:t>
              </a:r>
            </a:p>
            <a:p>
              <a:pPr algn="l" marL="474984" indent="-237492" lvl="1">
                <a:lnSpc>
                  <a:spcPts val="3080"/>
                </a:lnSpc>
                <a:buFont typeface="Arial"/>
                <a:buChar char="•"/>
              </a:pPr>
              <a:r>
                <a:rPr lang="en-US" sz="2200" strike="noStrike" u="none">
                  <a:solidFill>
                    <a:srgbClr val="000000"/>
                  </a:solidFill>
                  <a:latin typeface="Rugrats Sans"/>
                  <a:ea typeface="Rugrats Sans"/>
                  <a:cs typeface="Rugrats Sans"/>
                  <a:sym typeface="Rugrats Sans"/>
                </a:rPr>
                <a:t>Mã hóa câu hỏi ngữ nghĩa</a:t>
              </a:r>
            </a:p>
            <a:p>
              <a:pPr algn="l" marL="474984" indent="-237492" lvl="1">
                <a:lnSpc>
                  <a:spcPts val="3080"/>
                </a:lnSpc>
                <a:buFont typeface="Arial"/>
                <a:buChar char="•"/>
              </a:pPr>
              <a:r>
                <a:rPr lang="en-US" sz="2200" strike="noStrike" u="none">
                  <a:solidFill>
                    <a:srgbClr val="000000"/>
                  </a:solidFill>
                  <a:latin typeface="Rugrats Sans"/>
                  <a:ea typeface="Rugrats Sans"/>
                  <a:cs typeface="Rugrats Sans"/>
                  <a:sym typeface="Rugrats Sans"/>
                </a:rPr>
                <a:t>Kết hợp thông tin đa phương thức</a:t>
              </a:r>
            </a:p>
            <a:p>
              <a:pPr algn="l" marL="474984" indent="-237492" lvl="1">
                <a:lnSpc>
                  <a:spcPts val="3080"/>
                </a:lnSpc>
                <a:buFont typeface="Arial"/>
                <a:buChar char="•"/>
              </a:pPr>
              <a:r>
                <a:rPr lang="en-US" sz="2200" strike="noStrike" u="none">
                  <a:solidFill>
                    <a:srgbClr val="000000"/>
                  </a:solidFill>
                  <a:latin typeface="Rugrats Sans"/>
                  <a:ea typeface="Rugrats Sans"/>
                  <a:cs typeface="Rugrats Sans"/>
                  <a:sym typeface="Rugrats Sans"/>
                </a:rPr>
                <a:t>Sinh câu trả lời chính xác</a:t>
              </a:r>
            </a:p>
          </p:txBody>
        </p:sp>
        <p:sp>
          <p:nvSpPr>
            <p:cNvPr name="TextBox 6" id="6"/>
            <p:cNvSpPr txBox="true"/>
            <p:nvPr/>
          </p:nvSpPr>
          <p:spPr>
            <a:xfrm rot="0">
              <a:off x="0" y="497970"/>
              <a:ext cx="9182100" cy="541443"/>
            </a:xfrm>
            <a:prstGeom prst="rect">
              <a:avLst/>
            </a:prstGeom>
          </p:spPr>
          <p:txBody>
            <a:bodyPr anchor="t" rtlCol="false" tIns="0" lIns="0" bIns="0" rIns="0">
              <a:spAutoFit/>
            </a:bodyPr>
            <a:lstStyle/>
            <a:p>
              <a:pPr algn="l" marL="0" indent="0" lvl="0">
                <a:lnSpc>
                  <a:spcPts val="3080"/>
                </a:lnSpc>
                <a:spcBef>
                  <a:spcPct val="0"/>
                </a:spcBef>
              </a:pPr>
              <a:r>
                <a:rPr lang="en-US" sz="2200">
                  <a:solidFill>
                    <a:srgbClr val="000000"/>
                  </a:solidFill>
                  <a:latin typeface="Rugrats Sans"/>
                  <a:ea typeface="Rugrats Sans"/>
                  <a:cs typeface="Rugrats Sans"/>
                  <a:sym typeface="Rugrats Sans"/>
                </a:rPr>
                <a:t>Phân tích mô hình VQA hiện đại</a:t>
              </a:r>
            </a:p>
          </p:txBody>
        </p:sp>
      </p:grpSp>
      <p:sp>
        <p:nvSpPr>
          <p:cNvPr name="Freeform 7" id="7"/>
          <p:cNvSpPr/>
          <p:nvPr/>
        </p:nvSpPr>
        <p:spPr>
          <a:xfrm flipH="false" flipV="false" rot="0">
            <a:off x="16725900" y="666750"/>
            <a:ext cx="895350" cy="895350"/>
          </a:xfrm>
          <a:custGeom>
            <a:avLst/>
            <a:gdLst/>
            <a:ahLst/>
            <a:cxnLst/>
            <a:rect r="r" b="b" t="t" l="l"/>
            <a:pathLst>
              <a:path h="895350" w="895350">
                <a:moveTo>
                  <a:pt x="0" y="0"/>
                </a:moveTo>
                <a:lnTo>
                  <a:pt x="895350" y="0"/>
                </a:lnTo>
                <a:lnTo>
                  <a:pt x="895350" y="895350"/>
                </a:lnTo>
                <a:lnTo>
                  <a:pt x="0" y="89535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174349" y="0"/>
            <a:ext cx="6155924" cy="10269368"/>
          </a:xfrm>
          <a:custGeom>
            <a:avLst/>
            <a:gdLst/>
            <a:ahLst/>
            <a:cxnLst/>
            <a:rect r="r" b="b" t="t" l="l"/>
            <a:pathLst>
              <a:path h="10269368" w="6155924">
                <a:moveTo>
                  <a:pt x="0" y="0"/>
                </a:moveTo>
                <a:lnTo>
                  <a:pt x="6155924" y="0"/>
                </a:lnTo>
                <a:lnTo>
                  <a:pt x="6155924" y="10269368"/>
                </a:lnTo>
                <a:lnTo>
                  <a:pt x="0" y="10269368"/>
                </a:lnTo>
                <a:lnTo>
                  <a:pt x="0" y="0"/>
                </a:lnTo>
                <a:close/>
              </a:path>
            </a:pathLst>
          </a:custGeom>
          <a:blipFill>
            <a:blip r:embed="rId2">
              <a:extLst>
                <a:ext uri="{96DAC541-7B7A-43D3-8B79-37D633B846F1}">
                  <asvg:svgBlip xmlns:asvg="http://schemas.microsoft.com/office/drawing/2016/SVG/main" r:embed="rId3"/>
                </a:ext>
              </a:extLst>
            </a:blip>
            <a:stretch>
              <a:fillRect l="-66820" t="0" r="0" b="0"/>
            </a:stretch>
          </a:blipFill>
        </p:spPr>
      </p:sp>
      <p:sp>
        <p:nvSpPr>
          <p:cNvPr name="TextBox 3" id="3"/>
          <p:cNvSpPr txBox="true"/>
          <p:nvPr/>
        </p:nvSpPr>
        <p:spPr>
          <a:xfrm rot="0">
            <a:off x="6419850" y="7175497"/>
            <a:ext cx="8324850" cy="2444753"/>
          </a:xfrm>
          <a:prstGeom prst="rect">
            <a:avLst/>
          </a:prstGeom>
        </p:spPr>
        <p:txBody>
          <a:bodyPr anchor="t" rtlCol="false" tIns="0" lIns="0" bIns="0" rIns="0">
            <a:spAutoFit/>
          </a:bodyPr>
          <a:lstStyle/>
          <a:p>
            <a:pPr algn="l" marL="0" indent="0" lvl="0">
              <a:lnSpc>
                <a:spcPts val="8500"/>
              </a:lnSpc>
              <a:spcBef>
                <a:spcPct val="0"/>
              </a:spcBef>
            </a:pPr>
            <a:r>
              <a:rPr lang="en-US" sz="8500" strike="noStrike" u="none">
                <a:solidFill>
                  <a:srgbClr val="1E2A78"/>
                </a:solidFill>
                <a:latin typeface="Arsenica Antiqua"/>
                <a:ea typeface="Arsenica Antiqua"/>
                <a:cs typeface="Arsenica Antiqua"/>
                <a:sym typeface="Arsenica Antiqua"/>
              </a:rPr>
              <a:t>Các nhiệm vụ chính</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666750" y="590550"/>
            <a:ext cx="14077950" cy="1368428"/>
          </a:xfrm>
          <a:prstGeom prst="rect">
            <a:avLst/>
          </a:prstGeom>
        </p:spPr>
        <p:txBody>
          <a:bodyPr anchor="t" rtlCol="false" tIns="0" lIns="0" bIns="0" rIns="0">
            <a:spAutoFit/>
          </a:bodyPr>
          <a:lstStyle/>
          <a:p>
            <a:pPr algn="l" marL="0" indent="0" lvl="0">
              <a:lnSpc>
                <a:spcPts val="8500"/>
              </a:lnSpc>
              <a:spcBef>
                <a:spcPct val="0"/>
              </a:spcBef>
            </a:pPr>
            <a:r>
              <a:rPr lang="en-US" sz="8500" spc="-144">
                <a:solidFill>
                  <a:srgbClr val="1E2A78"/>
                </a:solidFill>
                <a:latin typeface="Arsenica Antiqua"/>
                <a:ea typeface="Arsenica Antiqua"/>
                <a:cs typeface="Arsenica Antiqua"/>
                <a:sym typeface="Arsenica Antiqua"/>
              </a:rPr>
              <a:t>Các bước xử lý VQA</a:t>
            </a:r>
          </a:p>
        </p:txBody>
      </p:sp>
      <p:grpSp>
        <p:nvGrpSpPr>
          <p:cNvPr name="Group 3" id="3"/>
          <p:cNvGrpSpPr/>
          <p:nvPr/>
        </p:nvGrpSpPr>
        <p:grpSpPr>
          <a:xfrm rot="0">
            <a:off x="666750" y="6309360"/>
            <a:ext cx="6886575" cy="3310890"/>
            <a:chOff x="0" y="0"/>
            <a:chExt cx="9182100" cy="4414519"/>
          </a:xfrm>
        </p:grpSpPr>
        <p:sp>
          <p:nvSpPr>
            <p:cNvPr name="AutoShape 4" id="4"/>
            <p:cNvSpPr/>
            <p:nvPr/>
          </p:nvSpPr>
          <p:spPr>
            <a:xfrm flipH="true">
              <a:off x="0" y="19050"/>
              <a:ext cx="3429000" cy="0"/>
            </a:xfrm>
            <a:prstGeom prst="line">
              <a:avLst/>
            </a:prstGeom>
            <a:ln cap="flat" w="38100">
              <a:solidFill>
                <a:srgbClr val="000000"/>
              </a:solidFill>
              <a:prstDash val="solid"/>
              <a:headEnd type="none" len="sm" w="sm"/>
              <a:tailEnd type="none" len="sm" w="sm"/>
            </a:ln>
          </p:spPr>
        </p:sp>
        <p:sp>
          <p:nvSpPr>
            <p:cNvPr name="TextBox 5" id="5"/>
            <p:cNvSpPr txBox="true"/>
            <p:nvPr/>
          </p:nvSpPr>
          <p:spPr>
            <a:xfrm rot="0">
              <a:off x="0" y="1790277"/>
              <a:ext cx="9182100" cy="2624243"/>
            </a:xfrm>
            <a:prstGeom prst="rect">
              <a:avLst/>
            </a:prstGeom>
          </p:spPr>
          <p:txBody>
            <a:bodyPr anchor="t" rtlCol="false" tIns="0" lIns="0" bIns="0" rIns="0">
              <a:spAutoFit/>
            </a:bodyPr>
            <a:lstStyle/>
            <a:p>
              <a:pPr algn="l" marL="474984" indent="-237492" lvl="1">
                <a:lnSpc>
                  <a:spcPts val="3080"/>
                </a:lnSpc>
                <a:buFont typeface="Arial"/>
                <a:buChar char="•"/>
              </a:pPr>
              <a:r>
                <a:rPr lang="en-US" sz="2200" strike="noStrike" u="none">
                  <a:solidFill>
                    <a:srgbClr val="000000"/>
                  </a:solidFill>
                  <a:latin typeface="Rugrats Sans"/>
                  <a:ea typeface="Rugrats Sans"/>
                  <a:cs typeface="Rugrats Sans"/>
                  <a:sym typeface="Rugrats Sans"/>
                </a:rPr>
                <a:t>Nhận diện đối tượng bằng CNN</a:t>
              </a:r>
            </a:p>
            <a:p>
              <a:pPr algn="l" marL="474984" indent="-237492" lvl="1">
                <a:lnSpc>
                  <a:spcPts val="3080"/>
                </a:lnSpc>
                <a:buFont typeface="Arial"/>
                <a:buChar char="•"/>
              </a:pPr>
              <a:r>
                <a:rPr lang="en-US" sz="2200" strike="noStrike" u="none">
                  <a:solidFill>
                    <a:srgbClr val="000000"/>
                  </a:solidFill>
                  <a:latin typeface="Rugrats Sans"/>
                  <a:ea typeface="Rugrats Sans"/>
                  <a:cs typeface="Rugrats Sans"/>
                  <a:sym typeface="Rugrats Sans"/>
                </a:rPr>
                <a:t>Hiểu mối quan hệ bằng GNN</a:t>
              </a:r>
            </a:p>
            <a:p>
              <a:pPr algn="l" marL="474984" indent="-237492" lvl="1">
                <a:lnSpc>
                  <a:spcPts val="3080"/>
                </a:lnSpc>
                <a:buFont typeface="Arial"/>
                <a:buChar char="•"/>
              </a:pPr>
              <a:r>
                <a:rPr lang="en-US" sz="2200" strike="noStrike" u="none">
                  <a:solidFill>
                    <a:srgbClr val="000000"/>
                  </a:solidFill>
                  <a:latin typeface="Rugrats Sans"/>
                  <a:ea typeface="Rugrats Sans"/>
                  <a:cs typeface="Rugrats Sans"/>
                  <a:sym typeface="Rugrats Sans"/>
                </a:rPr>
                <a:t>Phân tích ngữ nghĩa câu hỏi</a:t>
              </a:r>
            </a:p>
            <a:p>
              <a:pPr algn="l" marL="474984" indent="-237492" lvl="1">
                <a:lnSpc>
                  <a:spcPts val="3080"/>
                </a:lnSpc>
                <a:buFont typeface="Arial"/>
                <a:buChar char="•"/>
              </a:pPr>
              <a:r>
                <a:rPr lang="en-US" sz="2200" strike="noStrike" u="none">
                  <a:solidFill>
                    <a:srgbClr val="000000"/>
                  </a:solidFill>
                  <a:latin typeface="Rugrats Sans"/>
                  <a:ea typeface="Rugrats Sans"/>
                  <a:cs typeface="Rugrats Sans"/>
                  <a:sym typeface="Rugrats Sans"/>
                </a:rPr>
                <a:t>Kết hợp thông tin đa phương thức</a:t>
              </a:r>
            </a:p>
            <a:p>
              <a:pPr algn="l" marL="474984" indent="-237492" lvl="1">
                <a:lnSpc>
                  <a:spcPts val="3080"/>
                </a:lnSpc>
                <a:buFont typeface="Arial"/>
                <a:buChar char="•"/>
              </a:pPr>
              <a:r>
                <a:rPr lang="en-US" sz="2200" strike="noStrike" u="none">
                  <a:solidFill>
                    <a:srgbClr val="000000"/>
                  </a:solidFill>
                  <a:latin typeface="Rugrats Sans"/>
                  <a:ea typeface="Rugrats Sans"/>
                  <a:cs typeface="Rugrats Sans"/>
                  <a:sym typeface="Rugrats Sans"/>
                </a:rPr>
                <a:t>Sinh câu trả lời ngắn hoặc dài</a:t>
              </a:r>
            </a:p>
          </p:txBody>
        </p:sp>
        <p:sp>
          <p:nvSpPr>
            <p:cNvPr name="TextBox 6" id="6"/>
            <p:cNvSpPr txBox="true"/>
            <p:nvPr/>
          </p:nvSpPr>
          <p:spPr>
            <a:xfrm rot="0">
              <a:off x="0" y="497970"/>
              <a:ext cx="9182100" cy="541443"/>
            </a:xfrm>
            <a:prstGeom prst="rect">
              <a:avLst/>
            </a:prstGeom>
          </p:spPr>
          <p:txBody>
            <a:bodyPr anchor="t" rtlCol="false" tIns="0" lIns="0" bIns="0" rIns="0">
              <a:spAutoFit/>
            </a:bodyPr>
            <a:lstStyle/>
            <a:p>
              <a:pPr algn="l" marL="0" indent="0" lvl="0">
                <a:lnSpc>
                  <a:spcPts val="3080"/>
                </a:lnSpc>
                <a:spcBef>
                  <a:spcPct val="0"/>
                </a:spcBef>
              </a:pPr>
              <a:r>
                <a:rPr lang="en-US" sz="2200">
                  <a:solidFill>
                    <a:srgbClr val="000000"/>
                  </a:solidFill>
                  <a:latin typeface="Rugrats Sans"/>
                  <a:ea typeface="Rugrats Sans"/>
                  <a:cs typeface="Rugrats Sans"/>
                  <a:sym typeface="Rugrats Sans"/>
                </a:rPr>
                <a:t>Các nhiệm vụ chính trong quy trình</a:t>
              </a:r>
            </a:p>
          </p:txBody>
        </p:sp>
      </p:grpSp>
      <p:sp>
        <p:nvSpPr>
          <p:cNvPr name="Freeform 7" id="7"/>
          <p:cNvSpPr/>
          <p:nvPr/>
        </p:nvSpPr>
        <p:spPr>
          <a:xfrm flipH="false" flipV="false" rot="0">
            <a:off x="16725900" y="666750"/>
            <a:ext cx="895350" cy="895350"/>
          </a:xfrm>
          <a:custGeom>
            <a:avLst/>
            <a:gdLst/>
            <a:ahLst/>
            <a:cxnLst/>
            <a:rect r="r" b="b" t="t" l="l"/>
            <a:pathLst>
              <a:path h="895350" w="895350">
                <a:moveTo>
                  <a:pt x="0" y="0"/>
                </a:moveTo>
                <a:lnTo>
                  <a:pt x="895350" y="0"/>
                </a:lnTo>
                <a:lnTo>
                  <a:pt x="895350" y="895350"/>
                </a:lnTo>
                <a:lnTo>
                  <a:pt x="0" y="89535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0287000" cy="10287000"/>
          </a:xfrm>
          <a:custGeom>
            <a:avLst/>
            <a:gdLst/>
            <a:ahLst/>
            <a:cxnLst/>
            <a:rect r="r" b="b" t="t" l="l"/>
            <a:pathLst>
              <a:path h="10287000" w="10287000">
                <a:moveTo>
                  <a:pt x="0" y="0"/>
                </a:moveTo>
                <a:lnTo>
                  <a:pt x="10287000" y="0"/>
                </a:lnTo>
                <a:lnTo>
                  <a:pt x="10287000" y="10287000"/>
                </a:lnTo>
                <a:lnTo>
                  <a:pt x="0" y="10287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028700" y="1028700"/>
            <a:ext cx="8229600" cy="8229600"/>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4"/>
              <a:stretch>
                <a:fillRect l="0" t="0" r="0" b="0"/>
              </a:stretch>
            </a:blipFill>
          </p:spPr>
        </p:sp>
      </p:grpSp>
      <p:sp>
        <p:nvSpPr>
          <p:cNvPr name="TextBox 5" id="5"/>
          <p:cNvSpPr txBox="true"/>
          <p:nvPr/>
        </p:nvSpPr>
        <p:spPr>
          <a:xfrm rot="0">
            <a:off x="10734675" y="8409305"/>
            <a:ext cx="6886575" cy="1210945"/>
          </a:xfrm>
          <a:prstGeom prst="rect">
            <a:avLst/>
          </a:prstGeom>
        </p:spPr>
        <p:txBody>
          <a:bodyPr anchor="t" rtlCol="false" tIns="0" lIns="0" bIns="0" rIns="0">
            <a:spAutoFit/>
          </a:bodyPr>
          <a:lstStyle/>
          <a:p>
            <a:pPr algn="l" marL="0" indent="0" lvl="0">
              <a:lnSpc>
                <a:spcPts val="3079"/>
              </a:lnSpc>
              <a:spcBef>
                <a:spcPct val="0"/>
              </a:spcBef>
            </a:pPr>
            <a:r>
              <a:rPr lang="en-US" sz="2199">
                <a:solidFill>
                  <a:srgbClr val="000000"/>
                </a:solidFill>
                <a:latin typeface="Rugrats Sans"/>
                <a:ea typeface="Rugrats Sans"/>
                <a:cs typeface="Rugrats Sans"/>
                <a:sym typeface="Rugrats Sans"/>
              </a:rPr>
              <a:t>Hình ảnh minh họa quy trình chú ý đa phương thức trong VQA, cho thấy sự kết hợp giữa hình ảnh và câu hỏi để gia tăng độ chính xác trong việc trả lời.</a:t>
            </a:r>
          </a:p>
        </p:txBody>
      </p:sp>
      <p:grpSp>
        <p:nvGrpSpPr>
          <p:cNvPr name="Group 6" id="6"/>
          <p:cNvGrpSpPr/>
          <p:nvPr/>
        </p:nvGrpSpPr>
        <p:grpSpPr>
          <a:xfrm rot="0">
            <a:off x="10734675" y="666750"/>
            <a:ext cx="6886575" cy="4243705"/>
            <a:chOff x="0" y="0"/>
            <a:chExt cx="9182100" cy="5658273"/>
          </a:xfrm>
        </p:grpSpPr>
        <p:sp>
          <p:nvSpPr>
            <p:cNvPr name="TextBox 7" id="7"/>
            <p:cNvSpPr txBox="true"/>
            <p:nvPr/>
          </p:nvSpPr>
          <p:spPr>
            <a:xfrm rot="0">
              <a:off x="0" y="-76200"/>
              <a:ext cx="9182100" cy="4669371"/>
            </a:xfrm>
            <a:prstGeom prst="rect">
              <a:avLst/>
            </a:prstGeom>
          </p:spPr>
          <p:txBody>
            <a:bodyPr anchor="t" rtlCol="false" tIns="0" lIns="0" bIns="0" rIns="0">
              <a:spAutoFit/>
            </a:bodyPr>
            <a:lstStyle/>
            <a:p>
              <a:pPr algn="l" marL="0" indent="0" lvl="0">
                <a:lnSpc>
                  <a:spcPts val="8500"/>
                </a:lnSpc>
                <a:spcBef>
                  <a:spcPct val="0"/>
                </a:spcBef>
              </a:pPr>
              <a:r>
                <a:rPr lang="en-US" sz="8500">
                  <a:solidFill>
                    <a:srgbClr val="1E2A78"/>
                  </a:solidFill>
                  <a:latin typeface="Arsenica Antiqua"/>
                  <a:ea typeface="Arsenica Antiqua"/>
                  <a:cs typeface="Arsenica Antiqua"/>
                  <a:sym typeface="Arsenica Antiqua"/>
                </a:rPr>
                <a:t>Kết hợp thông tin đa phương thức</a:t>
              </a:r>
            </a:p>
          </p:txBody>
        </p:sp>
        <p:sp>
          <p:nvSpPr>
            <p:cNvPr name="TextBox 8" id="8"/>
            <p:cNvSpPr txBox="true"/>
            <p:nvPr/>
          </p:nvSpPr>
          <p:spPr>
            <a:xfrm rot="0">
              <a:off x="0" y="4978400"/>
              <a:ext cx="9182100" cy="679873"/>
            </a:xfrm>
            <a:prstGeom prst="rect">
              <a:avLst/>
            </a:prstGeom>
          </p:spPr>
          <p:txBody>
            <a:bodyPr anchor="t" rtlCol="false" tIns="0" lIns="0" bIns="0" rIns="0">
              <a:spAutoFit/>
            </a:bodyPr>
            <a:lstStyle/>
            <a:p>
              <a:pPr algn="l" marL="0" indent="0" lvl="0">
                <a:lnSpc>
                  <a:spcPts val="3200"/>
                </a:lnSpc>
              </a:pPr>
              <a:r>
                <a:rPr lang="en-US" sz="3200">
                  <a:solidFill>
                    <a:srgbClr val="1E2A78"/>
                  </a:solidFill>
                  <a:latin typeface="Arsenica Antiqua"/>
                  <a:ea typeface="Arsenica Antiqua"/>
                  <a:cs typeface="Arsenica Antiqua"/>
                  <a:sym typeface="Arsenica Antiqua"/>
                </a:rPr>
                <a:t>Sơ đồ chú ý trong VQA</a:t>
              </a:r>
            </a:p>
          </p:txBody>
        </p:sp>
      </p:gr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174349" y="0"/>
            <a:ext cx="6155924" cy="10269368"/>
          </a:xfrm>
          <a:custGeom>
            <a:avLst/>
            <a:gdLst/>
            <a:ahLst/>
            <a:cxnLst/>
            <a:rect r="r" b="b" t="t" l="l"/>
            <a:pathLst>
              <a:path h="10269368" w="6155924">
                <a:moveTo>
                  <a:pt x="0" y="0"/>
                </a:moveTo>
                <a:lnTo>
                  <a:pt x="6155924" y="0"/>
                </a:lnTo>
                <a:lnTo>
                  <a:pt x="6155924" y="10269368"/>
                </a:lnTo>
                <a:lnTo>
                  <a:pt x="0" y="10269368"/>
                </a:lnTo>
                <a:lnTo>
                  <a:pt x="0" y="0"/>
                </a:lnTo>
                <a:close/>
              </a:path>
            </a:pathLst>
          </a:custGeom>
          <a:blipFill>
            <a:blip r:embed="rId2">
              <a:extLst>
                <a:ext uri="{96DAC541-7B7A-43D3-8B79-37D633B846F1}">
                  <asvg:svgBlip xmlns:asvg="http://schemas.microsoft.com/office/drawing/2016/SVG/main" r:embed="rId3"/>
                </a:ext>
              </a:extLst>
            </a:blip>
            <a:stretch>
              <a:fillRect l="-66820" t="0" r="0" b="0"/>
            </a:stretch>
          </a:blipFill>
        </p:spPr>
      </p:sp>
      <p:sp>
        <p:nvSpPr>
          <p:cNvPr name="TextBox 3" id="3"/>
          <p:cNvSpPr txBox="true"/>
          <p:nvPr/>
        </p:nvSpPr>
        <p:spPr>
          <a:xfrm rot="0">
            <a:off x="6419850" y="7175497"/>
            <a:ext cx="8324850" cy="2444753"/>
          </a:xfrm>
          <a:prstGeom prst="rect">
            <a:avLst/>
          </a:prstGeom>
        </p:spPr>
        <p:txBody>
          <a:bodyPr anchor="t" rtlCol="false" tIns="0" lIns="0" bIns="0" rIns="0">
            <a:spAutoFit/>
          </a:bodyPr>
          <a:lstStyle/>
          <a:p>
            <a:pPr algn="l" marL="0" indent="0" lvl="0">
              <a:lnSpc>
                <a:spcPts val="8500"/>
              </a:lnSpc>
              <a:spcBef>
                <a:spcPct val="0"/>
              </a:spcBef>
            </a:pPr>
            <a:r>
              <a:rPr lang="en-US" sz="8500" strike="noStrike" u="none">
                <a:solidFill>
                  <a:srgbClr val="1E2A78"/>
                </a:solidFill>
                <a:latin typeface="Arsenica Antiqua"/>
                <a:ea typeface="Arsenica Antiqua"/>
                <a:cs typeface="Arsenica Antiqua"/>
                <a:sym typeface="Arsenica Antiqua"/>
              </a:rPr>
              <a:t>Các hướng tiếp cận</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666750" y="590550"/>
            <a:ext cx="14077950" cy="1368428"/>
          </a:xfrm>
          <a:prstGeom prst="rect">
            <a:avLst/>
          </a:prstGeom>
        </p:spPr>
        <p:txBody>
          <a:bodyPr anchor="t" rtlCol="false" tIns="0" lIns="0" bIns="0" rIns="0">
            <a:spAutoFit/>
          </a:bodyPr>
          <a:lstStyle/>
          <a:p>
            <a:pPr algn="l" marL="0" indent="0" lvl="0">
              <a:lnSpc>
                <a:spcPts val="8500"/>
              </a:lnSpc>
              <a:spcBef>
                <a:spcPct val="0"/>
              </a:spcBef>
            </a:pPr>
            <a:r>
              <a:rPr lang="en-US" sz="8500" spc="-144">
                <a:solidFill>
                  <a:srgbClr val="1E2A78"/>
                </a:solidFill>
                <a:latin typeface="Arsenica Antiqua"/>
                <a:ea typeface="Arsenica Antiqua"/>
                <a:cs typeface="Arsenica Antiqua"/>
                <a:sym typeface="Arsenica Antiqua"/>
              </a:rPr>
              <a:t>Các phương pháp fusion</a:t>
            </a:r>
          </a:p>
        </p:txBody>
      </p:sp>
      <p:grpSp>
        <p:nvGrpSpPr>
          <p:cNvPr name="Group 3" id="3"/>
          <p:cNvGrpSpPr/>
          <p:nvPr/>
        </p:nvGrpSpPr>
        <p:grpSpPr>
          <a:xfrm rot="0">
            <a:off x="666750" y="6309360"/>
            <a:ext cx="6886575" cy="3310890"/>
            <a:chOff x="0" y="0"/>
            <a:chExt cx="9182100" cy="4414519"/>
          </a:xfrm>
        </p:grpSpPr>
        <p:sp>
          <p:nvSpPr>
            <p:cNvPr name="AutoShape 4" id="4"/>
            <p:cNvSpPr/>
            <p:nvPr/>
          </p:nvSpPr>
          <p:spPr>
            <a:xfrm flipH="true">
              <a:off x="0" y="19050"/>
              <a:ext cx="3429000" cy="0"/>
            </a:xfrm>
            <a:prstGeom prst="line">
              <a:avLst/>
            </a:prstGeom>
            <a:ln cap="flat" w="38100">
              <a:solidFill>
                <a:srgbClr val="000000"/>
              </a:solidFill>
              <a:prstDash val="solid"/>
              <a:headEnd type="none" len="sm" w="sm"/>
              <a:tailEnd type="none" len="sm" w="sm"/>
            </a:ln>
          </p:spPr>
        </p:sp>
        <p:sp>
          <p:nvSpPr>
            <p:cNvPr name="TextBox 5" id="5"/>
            <p:cNvSpPr txBox="true"/>
            <p:nvPr/>
          </p:nvSpPr>
          <p:spPr>
            <a:xfrm rot="0">
              <a:off x="0" y="1790277"/>
              <a:ext cx="9182100" cy="2624243"/>
            </a:xfrm>
            <a:prstGeom prst="rect">
              <a:avLst/>
            </a:prstGeom>
          </p:spPr>
          <p:txBody>
            <a:bodyPr anchor="t" rtlCol="false" tIns="0" lIns="0" bIns="0" rIns="0">
              <a:spAutoFit/>
            </a:bodyPr>
            <a:lstStyle/>
            <a:p>
              <a:pPr algn="l" marL="474984" indent="-237492" lvl="1">
                <a:lnSpc>
                  <a:spcPts val="3080"/>
                </a:lnSpc>
                <a:buFont typeface="Arial"/>
                <a:buChar char="•"/>
              </a:pPr>
              <a:r>
                <a:rPr lang="en-US" sz="2200" strike="noStrike" u="none">
                  <a:solidFill>
                    <a:srgbClr val="000000"/>
                  </a:solidFill>
                  <a:latin typeface="Rugrats Sans"/>
                  <a:ea typeface="Rugrats Sans"/>
                  <a:cs typeface="Rugrats Sans"/>
                  <a:sym typeface="Rugrats Sans"/>
                </a:rPr>
                <a:t>Fusion Features: Các phương pháp kết hợp</a:t>
              </a:r>
            </a:p>
            <a:p>
              <a:pPr algn="l" marL="474984" indent="-237492" lvl="1">
                <a:lnSpc>
                  <a:spcPts val="3080"/>
                </a:lnSpc>
                <a:buFont typeface="Arial"/>
                <a:buChar char="•"/>
              </a:pPr>
              <a:r>
                <a:rPr lang="en-US" sz="2200" strike="noStrike" u="none">
                  <a:solidFill>
                    <a:srgbClr val="000000"/>
                  </a:solidFill>
                  <a:latin typeface="Rugrats Sans"/>
                  <a:ea typeface="Rugrats Sans"/>
                  <a:cs typeface="Rugrats Sans"/>
                  <a:sym typeface="Rugrats Sans"/>
                </a:rPr>
                <a:t>Attention Mechanism: Nâng cao hiệu suất</a:t>
              </a:r>
            </a:p>
            <a:p>
              <a:pPr algn="l" marL="474984" indent="-237492" lvl="1">
                <a:lnSpc>
                  <a:spcPts val="3080"/>
                </a:lnSpc>
                <a:buFont typeface="Arial"/>
                <a:buChar char="•"/>
              </a:pPr>
              <a:r>
                <a:rPr lang="en-US" sz="2200" strike="noStrike" u="none">
                  <a:solidFill>
                    <a:srgbClr val="000000"/>
                  </a:solidFill>
                  <a:latin typeface="Rugrats Sans"/>
                  <a:ea typeface="Rugrats Sans"/>
                  <a:cs typeface="Rugrats Sans"/>
                  <a:sym typeface="Rugrats Sans"/>
                </a:rPr>
                <a:t>Visual Attention: Tập trung vào hình ảnh</a:t>
              </a:r>
            </a:p>
            <a:p>
              <a:pPr algn="l" marL="474984" indent="-237492" lvl="1">
                <a:lnSpc>
                  <a:spcPts val="3080"/>
                </a:lnSpc>
                <a:buFont typeface="Arial"/>
                <a:buChar char="•"/>
              </a:pPr>
              <a:r>
                <a:rPr lang="en-US" sz="2200" strike="noStrike" u="none">
                  <a:solidFill>
                    <a:srgbClr val="000000"/>
                  </a:solidFill>
                  <a:latin typeface="Rugrats Sans"/>
                  <a:ea typeface="Rugrats Sans"/>
                  <a:cs typeface="Rugrats Sans"/>
                  <a:sym typeface="Rugrats Sans"/>
                </a:rPr>
                <a:t>Question Attention: Hiểu câu hỏi chính xác</a:t>
              </a:r>
            </a:p>
            <a:p>
              <a:pPr algn="l" marL="474984" indent="-237492" lvl="1">
                <a:lnSpc>
                  <a:spcPts val="3080"/>
                </a:lnSpc>
                <a:buFont typeface="Arial"/>
                <a:buChar char="•"/>
              </a:pPr>
              <a:r>
                <a:rPr lang="en-US" sz="2200" strike="noStrike" u="none">
                  <a:solidFill>
                    <a:srgbClr val="000000"/>
                  </a:solidFill>
                  <a:latin typeface="Rugrats Sans"/>
                  <a:ea typeface="Rugrats Sans"/>
                  <a:cs typeface="Rugrats Sans"/>
                  <a:sym typeface="Rugrats Sans"/>
                </a:rPr>
                <a:t>Cross-Modal Attention: Kết nối đa phương thức</a:t>
              </a:r>
            </a:p>
          </p:txBody>
        </p:sp>
        <p:sp>
          <p:nvSpPr>
            <p:cNvPr name="TextBox 6" id="6"/>
            <p:cNvSpPr txBox="true"/>
            <p:nvPr/>
          </p:nvSpPr>
          <p:spPr>
            <a:xfrm rot="0">
              <a:off x="0" y="497970"/>
              <a:ext cx="9182100" cy="541443"/>
            </a:xfrm>
            <a:prstGeom prst="rect">
              <a:avLst/>
            </a:prstGeom>
          </p:spPr>
          <p:txBody>
            <a:bodyPr anchor="t" rtlCol="false" tIns="0" lIns="0" bIns="0" rIns="0">
              <a:spAutoFit/>
            </a:bodyPr>
            <a:lstStyle/>
            <a:p>
              <a:pPr algn="l" marL="0" indent="0" lvl="0">
                <a:lnSpc>
                  <a:spcPts val="3080"/>
                </a:lnSpc>
                <a:spcBef>
                  <a:spcPct val="0"/>
                </a:spcBef>
              </a:pPr>
              <a:r>
                <a:rPr lang="en-US" sz="2200">
                  <a:solidFill>
                    <a:srgbClr val="000000"/>
                  </a:solidFill>
                  <a:latin typeface="Rugrats Sans"/>
                  <a:ea typeface="Rugrats Sans"/>
                  <a:cs typeface="Rugrats Sans"/>
                  <a:sym typeface="Rugrats Sans"/>
                </a:rPr>
                <a:t>Phân tích cơ chế attention trong VQA</a:t>
              </a:r>
            </a:p>
          </p:txBody>
        </p:sp>
      </p:grpSp>
      <p:sp>
        <p:nvSpPr>
          <p:cNvPr name="Freeform 7" id="7"/>
          <p:cNvSpPr/>
          <p:nvPr/>
        </p:nvSpPr>
        <p:spPr>
          <a:xfrm flipH="false" flipV="false" rot="0">
            <a:off x="16725900" y="666750"/>
            <a:ext cx="895350" cy="895350"/>
          </a:xfrm>
          <a:custGeom>
            <a:avLst/>
            <a:gdLst/>
            <a:ahLst/>
            <a:cxnLst/>
            <a:rect r="r" b="b" t="t" l="l"/>
            <a:pathLst>
              <a:path h="895350" w="895350">
                <a:moveTo>
                  <a:pt x="0" y="0"/>
                </a:moveTo>
                <a:lnTo>
                  <a:pt x="895350" y="0"/>
                </a:lnTo>
                <a:lnTo>
                  <a:pt x="895350" y="895350"/>
                </a:lnTo>
                <a:lnTo>
                  <a:pt x="0" y="89535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0287000" cy="10287000"/>
          </a:xfrm>
          <a:custGeom>
            <a:avLst/>
            <a:gdLst/>
            <a:ahLst/>
            <a:cxnLst/>
            <a:rect r="r" b="b" t="t" l="l"/>
            <a:pathLst>
              <a:path h="10287000" w="10287000">
                <a:moveTo>
                  <a:pt x="0" y="0"/>
                </a:moveTo>
                <a:lnTo>
                  <a:pt x="10287000" y="0"/>
                </a:lnTo>
                <a:lnTo>
                  <a:pt x="10287000" y="10287000"/>
                </a:lnTo>
                <a:lnTo>
                  <a:pt x="0" y="10287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028700" y="1028700"/>
            <a:ext cx="8229600" cy="8229600"/>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4"/>
              <a:stretch>
                <a:fillRect l="0" t="0" r="0" b="0"/>
              </a:stretch>
            </a:blipFill>
          </p:spPr>
        </p:sp>
      </p:grpSp>
      <p:sp>
        <p:nvSpPr>
          <p:cNvPr name="TextBox 5" id="5"/>
          <p:cNvSpPr txBox="true"/>
          <p:nvPr/>
        </p:nvSpPr>
        <p:spPr>
          <a:xfrm rot="0">
            <a:off x="10734675" y="7628255"/>
            <a:ext cx="6886575" cy="1991995"/>
          </a:xfrm>
          <a:prstGeom prst="rect">
            <a:avLst/>
          </a:prstGeom>
        </p:spPr>
        <p:txBody>
          <a:bodyPr anchor="t" rtlCol="false" tIns="0" lIns="0" bIns="0" rIns="0">
            <a:spAutoFit/>
          </a:bodyPr>
          <a:lstStyle/>
          <a:p>
            <a:pPr algn="l" marL="0" indent="0" lvl="0">
              <a:lnSpc>
                <a:spcPts val="3079"/>
              </a:lnSpc>
              <a:spcBef>
                <a:spcPct val="0"/>
              </a:spcBef>
            </a:pPr>
            <a:r>
              <a:rPr lang="en-US" sz="2199">
                <a:solidFill>
                  <a:srgbClr val="000000"/>
                </a:solidFill>
                <a:latin typeface="Rugrats Sans"/>
                <a:ea typeface="Rugrats Sans"/>
                <a:cs typeface="Rugrats Sans"/>
                <a:sym typeface="Rugrats Sans"/>
              </a:rPr>
              <a:t>Attention mechanisms play a </a:t>
            </a:r>
            <a:r>
              <a:rPr lang="en-US" sz="2199">
                <a:solidFill>
                  <a:srgbClr val="000000"/>
                </a:solidFill>
                <a:latin typeface="Rugrats Sans"/>
                <a:ea typeface="Rugrats Sans"/>
                <a:cs typeface="Rugrats Sans"/>
                <a:sym typeface="Rugrats Sans"/>
              </a:rPr>
              <a:t>crucial role</a:t>
            </a:r>
            <a:r>
              <a:rPr lang="en-US" sz="2199">
                <a:solidFill>
                  <a:srgbClr val="000000"/>
                </a:solidFill>
                <a:latin typeface="Rugrats Sans"/>
                <a:ea typeface="Rugrats Sans"/>
                <a:cs typeface="Rugrats Sans"/>
                <a:sym typeface="Rugrats Sans"/>
              </a:rPr>
              <a:t> in Visual Question Answering by directing the model's focus on relevant regions, enhancing understanding and improving response accuracy while processing multimodal information.</a:t>
            </a:r>
          </a:p>
        </p:txBody>
      </p:sp>
      <p:grpSp>
        <p:nvGrpSpPr>
          <p:cNvPr name="Group 6" id="6"/>
          <p:cNvGrpSpPr/>
          <p:nvPr/>
        </p:nvGrpSpPr>
        <p:grpSpPr>
          <a:xfrm rot="0">
            <a:off x="10734675" y="666750"/>
            <a:ext cx="6886575" cy="3167380"/>
            <a:chOff x="0" y="0"/>
            <a:chExt cx="9182100" cy="4223173"/>
          </a:xfrm>
        </p:grpSpPr>
        <p:sp>
          <p:nvSpPr>
            <p:cNvPr name="TextBox 7" id="7"/>
            <p:cNvSpPr txBox="true"/>
            <p:nvPr/>
          </p:nvSpPr>
          <p:spPr>
            <a:xfrm rot="0">
              <a:off x="0" y="-76200"/>
              <a:ext cx="9182100" cy="3234271"/>
            </a:xfrm>
            <a:prstGeom prst="rect">
              <a:avLst/>
            </a:prstGeom>
          </p:spPr>
          <p:txBody>
            <a:bodyPr anchor="t" rtlCol="false" tIns="0" lIns="0" bIns="0" rIns="0">
              <a:spAutoFit/>
            </a:bodyPr>
            <a:lstStyle/>
            <a:p>
              <a:pPr algn="l" marL="0" indent="0" lvl="0">
                <a:lnSpc>
                  <a:spcPts val="8500"/>
                </a:lnSpc>
                <a:spcBef>
                  <a:spcPct val="0"/>
                </a:spcBef>
              </a:pPr>
              <a:r>
                <a:rPr lang="en-US" sz="8500">
                  <a:solidFill>
                    <a:srgbClr val="1E2A78"/>
                  </a:solidFill>
                  <a:latin typeface="Arsenica Antiqua"/>
                  <a:ea typeface="Arsenica Antiqua"/>
                  <a:cs typeface="Arsenica Antiqua"/>
                  <a:sym typeface="Arsenica Antiqua"/>
                </a:rPr>
                <a:t>Vai trò của attention</a:t>
              </a:r>
            </a:p>
          </p:txBody>
        </p:sp>
        <p:sp>
          <p:nvSpPr>
            <p:cNvPr name="TextBox 8" id="8"/>
            <p:cNvSpPr txBox="true"/>
            <p:nvPr/>
          </p:nvSpPr>
          <p:spPr>
            <a:xfrm rot="0">
              <a:off x="0" y="3543300"/>
              <a:ext cx="9182100" cy="679873"/>
            </a:xfrm>
            <a:prstGeom prst="rect">
              <a:avLst/>
            </a:prstGeom>
          </p:spPr>
          <p:txBody>
            <a:bodyPr anchor="t" rtlCol="false" tIns="0" lIns="0" bIns="0" rIns="0">
              <a:spAutoFit/>
            </a:bodyPr>
            <a:lstStyle/>
            <a:p>
              <a:pPr algn="l" marL="0" indent="0" lvl="0">
                <a:lnSpc>
                  <a:spcPts val="3200"/>
                </a:lnSpc>
              </a:pPr>
              <a:r>
                <a:rPr lang="en-US" sz="3200">
                  <a:solidFill>
                    <a:srgbClr val="1E2A78"/>
                  </a:solidFill>
                  <a:latin typeface="Arsenica Antiqua"/>
                  <a:ea typeface="Arsenica Antiqua"/>
                  <a:cs typeface="Arsenica Antiqua"/>
                  <a:sym typeface="Arsenica Antiqua"/>
                </a:rPr>
                <a:t>Hiểu và áp dụng attention trong VQA</a:t>
              </a:r>
            </a:p>
          </p:txBody>
        </p:sp>
      </p:gr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174349" y="0"/>
            <a:ext cx="6155924" cy="10269368"/>
          </a:xfrm>
          <a:custGeom>
            <a:avLst/>
            <a:gdLst/>
            <a:ahLst/>
            <a:cxnLst/>
            <a:rect r="r" b="b" t="t" l="l"/>
            <a:pathLst>
              <a:path h="10269368" w="6155924">
                <a:moveTo>
                  <a:pt x="0" y="0"/>
                </a:moveTo>
                <a:lnTo>
                  <a:pt x="6155924" y="0"/>
                </a:lnTo>
                <a:lnTo>
                  <a:pt x="6155924" y="10269368"/>
                </a:lnTo>
                <a:lnTo>
                  <a:pt x="0" y="10269368"/>
                </a:lnTo>
                <a:lnTo>
                  <a:pt x="0" y="0"/>
                </a:lnTo>
                <a:close/>
              </a:path>
            </a:pathLst>
          </a:custGeom>
          <a:blipFill>
            <a:blip r:embed="rId2">
              <a:extLst>
                <a:ext uri="{96DAC541-7B7A-43D3-8B79-37D633B846F1}">
                  <asvg:svgBlip xmlns:asvg="http://schemas.microsoft.com/office/drawing/2016/SVG/main" r:embed="rId3"/>
                </a:ext>
              </a:extLst>
            </a:blip>
            <a:stretch>
              <a:fillRect l="-66820" t="0" r="0" b="0"/>
            </a:stretch>
          </a:blipFill>
        </p:spPr>
      </p:sp>
      <p:sp>
        <p:nvSpPr>
          <p:cNvPr name="TextBox 3" id="3"/>
          <p:cNvSpPr txBox="true"/>
          <p:nvPr/>
        </p:nvSpPr>
        <p:spPr>
          <a:xfrm rot="0">
            <a:off x="6419850" y="7175497"/>
            <a:ext cx="8324850" cy="2444753"/>
          </a:xfrm>
          <a:prstGeom prst="rect">
            <a:avLst/>
          </a:prstGeom>
        </p:spPr>
        <p:txBody>
          <a:bodyPr anchor="t" rtlCol="false" tIns="0" lIns="0" bIns="0" rIns="0">
            <a:spAutoFit/>
          </a:bodyPr>
          <a:lstStyle/>
          <a:p>
            <a:pPr algn="l" marL="0" indent="0" lvl="0">
              <a:lnSpc>
                <a:spcPts val="8500"/>
              </a:lnSpc>
              <a:spcBef>
                <a:spcPct val="0"/>
              </a:spcBef>
            </a:pPr>
            <a:r>
              <a:rPr lang="en-US" sz="8500" strike="noStrike" u="none">
                <a:solidFill>
                  <a:srgbClr val="1E2A78"/>
                </a:solidFill>
                <a:latin typeface="Arsenica Antiqua"/>
                <a:ea typeface="Arsenica Antiqua"/>
                <a:cs typeface="Arsenica Antiqua"/>
                <a:sym typeface="Arsenica Antiqua"/>
              </a:rPr>
              <a:t>Mô hình tiền huấn luyện</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666750" y="590550"/>
            <a:ext cx="14077950" cy="1368428"/>
          </a:xfrm>
          <a:prstGeom prst="rect">
            <a:avLst/>
          </a:prstGeom>
        </p:spPr>
        <p:txBody>
          <a:bodyPr anchor="t" rtlCol="false" tIns="0" lIns="0" bIns="0" rIns="0">
            <a:spAutoFit/>
          </a:bodyPr>
          <a:lstStyle/>
          <a:p>
            <a:pPr algn="l" marL="0" indent="0" lvl="0">
              <a:lnSpc>
                <a:spcPts val="8500"/>
              </a:lnSpc>
              <a:spcBef>
                <a:spcPct val="0"/>
              </a:spcBef>
            </a:pPr>
            <a:r>
              <a:rPr lang="en-US" sz="8500" spc="-144">
                <a:solidFill>
                  <a:srgbClr val="1E2A78"/>
                </a:solidFill>
                <a:latin typeface="Arsenica Antiqua"/>
                <a:ea typeface="Arsenica Antiqua"/>
                <a:cs typeface="Arsenica Antiqua"/>
                <a:sym typeface="Arsenica Antiqua"/>
              </a:rPr>
              <a:t>Mô hình tiền huấn luyện</a:t>
            </a:r>
          </a:p>
        </p:txBody>
      </p:sp>
      <p:grpSp>
        <p:nvGrpSpPr>
          <p:cNvPr name="Group 3" id="3"/>
          <p:cNvGrpSpPr/>
          <p:nvPr/>
        </p:nvGrpSpPr>
        <p:grpSpPr>
          <a:xfrm rot="0">
            <a:off x="666750" y="6309360"/>
            <a:ext cx="6886575" cy="3310890"/>
            <a:chOff x="0" y="0"/>
            <a:chExt cx="9182100" cy="4414519"/>
          </a:xfrm>
        </p:grpSpPr>
        <p:sp>
          <p:nvSpPr>
            <p:cNvPr name="AutoShape 4" id="4"/>
            <p:cNvSpPr/>
            <p:nvPr/>
          </p:nvSpPr>
          <p:spPr>
            <a:xfrm flipH="true">
              <a:off x="0" y="19050"/>
              <a:ext cx="3429000" cy="0"/>
            </a:xfrm>
            <a:prstGeom prst="line">
              <a:avLst/>
            </a:prstGeom>
            <a:ln cap="flat" w="38100">
              <a:solidFill>
                <a:srgbClr val="000000"/>
              </a:solidFill>
              <a:prstDash val="solid"/>
              <a:headEnd type="none" len="sm" w="sm"/>
              <a:tailEnd type="none" len="sm" w="sm"/>
            </a:ln>
          </p:spPr>
        </p:sp>
        <p:sp>
          <p:nvSpPr>
            <p:cNvPr name="TextBox 5" id="5"/>
            <p:cNvSpPr txBox="true"/>
            <p:nvPr/>
          </p:nvSpPr>
          <p:spPr>
            <a:xfrm rot="0">
              <a:off x="0" y="1790277"/>
              <a:ext cx="9182100" cy="2624243"/>
            </a:xfrm>
            <a:prstGeom prst="rect">
              <a:avLst/>
            </a:prstGeom>
          </p:spPr>
          <p:txBody>
            <a:bodyPr anchor="t" rtlCol="false" tIns="0" lIns="0" bIns="0" rIns="0">
              <a:spAutoFit/>
            </a:bodyPr>
            <a:lstStyle/>
            <a:p>
              <a:pPr algn="l" marL="474984" indent="-237492" lvl="1">
                <a:lnSpc>
                  <a:spcPts val="3080"/>
                </a:lnSpc>
                <a:buFont typeface="Arial"/>
                <a:buChar char="•"/>
              </a:pPr>
              <a:r>
                <a:rPr lang="en-US" sz="2200" strike="noStrike" u="none">
                  <a:solidFill>
                    <a:srgbClr val="000000"/>
                  </a:solidFill>
                  <a:latin typeface="Rugrats Sans"/>
                  <a:ea typeface="Rugrats Sans"/>
                  <a:cs typeface="Rugrats Sans"/>
                  <a:sym typeface="Rugrats Sans"/>
                </a:rPr>
                <a:t>ResNet: Mạng nơ-ron sâu</a:t>
              </a:r>
            </a:p>
            <a:p>
              <a:pPr algn="l" marL="474984" indent="-237492" lvl="1">
                <a:lnSpc>
                  <a:spcPts val="3080"/>
                </a:lnSpc>
                <a:buFont typeface="Arial"/>
                <a:buChar char="•"/>
              </a:pPr>
              <a:r>
                <a:rPr lang="en-US" sz="2200" strike="noStrike" u="none">
                  <a:solidFill>
                    <a:srgbClr val="000000"/>
                  </a:solidFill>
                  <a:latin typeface="Rugrats Sans"/>
                  <a:ea typeface="Rugrats Sans"/>
                  <a:cs typeface="Rugrats Sans"/>
                  <a:sym typeface="Rugrats Sans"/>
                </a:rPr>
                <a:t>ViT: Vision Transformer</a:t>
              </a:r>
            </a:p>
            <a:p>
              <a:pPr algn="l" marL="474984" indent="-237492" lvl="1">
                <a:lnSpc>
                  <a:spcPts val="3080"/>
                </a:lnSpc>
                <a:buFont typeface="Arial"/>
                <a:buChar char="•"/>
              </a:pPr>
              <a:r>
                <a:rPr lang="en-US" sz="2200" strike="noStrike" u="none">
                  <a:solidFill>
                    <a:srgbClr val="000000"/>
                  </a:solidFill>
                  <a:latin typeface="Rugrats Sans"/>
                  <a:ea typeface="Rugrats Sans"/>
                  <a:cs typeface="Rugrats Sans"/>
                  <a:sym typeface="Rugrats Sans"/>
                </a:rPr>
                <a:t>CLIP: Tích hợp ảnh và văn bản</a:t>
              </a:r>
            </a:p>
            <a:p>
              <a:pPr algn="l" marL="474984" indent="-237492" lvl="1">
                <a:lnSpc>
                  <a:spcPts val="3080"/>
                </a:lnSpc>
                <a:buFont typeface="Arial"/>
                <a:buChar char="•"/>
              </a:pPr>
              <a:r>
                <a:rPr lang="en-US" sz="2200" strike="noStrike" u="none">
                  <a:solidFill>
                    <a:srgbClr val="000000"/>
                  </a:solidFill>
                  <a:latin typeface="Rugrats Sans"/>
                  <a:ea typeface="Rugrats Sans"/>
                  <a:cs typeface="Rugrats Sans"/>
                  <a:sym typeface="Rugrats Sans"/>
                </a:rPr>
                <a:t>BERT: Mô hình ngôn ngữ mạnh</a:t>
              </a:r>
            </a:p>
            <a:p>
              <a:pPr algn="l" marL="474984" indent="-237492" lvl="1">
                <a:lnSpc>
                  <a:spcPts val="3080"/>
                </a:lnSpc>
                <a:buFont typeface="Arial"/>
                <a:buChar char="•"/>
              </a:pPr>
              <a:r>
                <a:rPr lang="en-US" sz="2200" strike="noStrike" u="none">
                  <a:solidFill>
                    <a:srgbClr val="000000"/>
                  </a:solidFill>
                  <a:latin typeface="Rugrats Sans"/>
                  <a:ea typeface="Rugrats Sans"/>
                  <a:cs typeface="Rugrats Sans"/>
                  <a:sym typeface="Rugrats Sans"/>
                </a:rPr>
                <a:t>GPT: Sinh văn bản tự động</a:t>
              </a:r>
            </a:p>
          </p:txBody>
        </p:sp>
        <p:sp>
          <p:nvSpPr>
            <p:cNvPr name="TextBox 6" id="6"/>
            <p:cNvSpPr txBox="true"/>
            <p:nvPr/>
          </p:nvSpPr>
          <p:spPr>
            <a:xfrm rot="0">
              <a:off x="0" y="497970"/>
              <a:ext cx="9182100" cy="541443"/>
            </a:xfrm>
            <a:prstGeom prst="rect">
              <a:avLst/>
            </a:prstGeom>
          </p:spPr>
          <p:txBody>
            <a:bodyPr anchor="t" rtlCol="false" tIns="0" lIns="0" bIns="0" rIns="0">
              <a:spAutoFit/>
            </a:bodyPr>
            <a:lstStyle/>
            <a:p>
              <a:pPr algn="l" marL="0" indent="0" lvl="0">
                <a:lnSpc>
                  <a:spcPts val="3080"/>
                </a:lnSpc>
                <a:spcBef>
                  <a:spcPct val="0"/>
                </a:spcBef>
              </a:pPr>
              <a:r>
                <a:rPr lang="en-US" sz="2200">
                  <a:solidFill>
                    <a:srgbClr val="000000"/>
                  </a:solidFill>
                  <a:latin typeface="Rugrats Sans"/>
                  <a:ea typeface="Rugrats Sans"/>
                  <a:cs typeface="Rugrats Sans"/>
                  <a:sym typeface="Rugrats Sans"/>
                </a:rPr>
                <a:t>Các mô hình và quy trình huấn luyện</a:t>
              </a:r>
            </a:p>
          </p:txBody>
        </p:sp>
      </p:grpSp>
      <p:sp>
        <p:nvSpPr>
          <p:cNvPr name="Freeform 7" id="7"/>
          <p:cNvSpPr/>
          <p:nvPr/>
        </p:nvSpPr>
        <p:spPr>
          <a:xfrm flipH="false" flipV="false" rot="0">
            <a:off x="16725900" y="666750"/>
            <a:ext cx="895350" cy="895350"/>
          </a:xfrm>
          <a:custGeom>
            <a:avLst/>
            <a:gdLst/>
            <a:ahLst/>
            <a:cxnLst/>
            <a:rect r="r" b="b" t="t" l="l"/>
            <a:pathLst>
              <a:path h="895350" w="895350">
                <a:moveTo>
                  <a:pt x="0" y="0"/>
                </a:moveTo>
                <a:lnTo>
                  <a:pt x="895350" y="0"/>
                </a:lnTo>
                <a:lnTo>
                  <a:pt x="895350" y="895350"/>
                </a:lnTo>
                <a:lnTo>
                  <a:pt x="0" y="89535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0287000" cy="10287000"/>
          </a:xfrm>
          <a:custGeom>
            <a:avLst/>
            <a:gdLst/>
            <a:ahLst/>
            <a:cxnLst/>
            <a:rect r="r" b="b" t="t" l="l"/>
            <a:pathLst>
              <a:path h="10287000" w="10287000">
                <a:moveTo>
                  <a:pt x="0" y="0"/>
                </a:moveTo>
                <a:lnTo>
                  <a:pt x="10287000" y="0"/>
                </a:lnTo>
                <a:lnTo>
                  <a:pt x="10287000" y="10287000"/>
                </a:lnTo>
                <a:lnTo>
                  <a:pt x="0" y="10287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028700" y="1028700"/>
            <a:ext cx="8229600" cy="8229600"/>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4"/>
              <a:stretch>
                <a:fillRect l="0" t="0" r="0" b="0"/>
              </a:stretch>
            </a:blipFill>
          </p:spPr>
        </p:sp>
      </p:grpSp>
      <p:sp>
        <p:nvSpPr>
          <p:cNvPr name="TextBox 5" id="5"/>
          <p:cNvSpPr txBox="true"/>
          <p:nvPr/>
        </p:nvSpPr>
        <p:spPr>
          <a:xfrm rot="0">
            <a:off x="10734675" y="8018780"/>
            <a:ext cx="6886575" cy="1601470"/>
          </a:xfrm>
          <a:prstGeom prst="rect">
            <a:avLst/>
          </a:prstGeom>
        </p:spPr>
        <p:txBody>
          <a:bodyPr anchor="t" rtlCol="false" tIns="0" lIns="0" bIns="0" rIns="0">
            <a:spAutoFit/>
          </a:bodyPr>
          <a:lstStyle/>
          <a:p>
            <a:pPr algn="l" marL="0" indent="0" lvl="0">
              <a:lnSpc>
                <a:spcPts val="3079"/>
              </a:lnSpc>
              <a:spcBef>
                <a:spcPct val="0"/>
              </a:spcBef>
            </a:pPr>
            <a:r>
              <a:rPr lang="en-US" sz="2199">
                <a:solidFill>
                  <a:srgbClr val="000000"/>
                </a:solidFill>
                <a:latin typeface="Rugrats Sans"/>
                <a:ea typeface="Rugrats Sans"/>
                <a:cs typeface="Rugrats Sans"/>
                <a:sym typeface="Rugrats Sans"/>
              </a:rPr>
              <a:t>Hình ảnh minh họa quy trình huấn luyện mô hình Visual Question Answering, từ trích xuất đặc trưng đến sinh câu trả lời. Mỗi bước đều quan trọng trong việc đảm bảo hiệu suất của hệ thống.</a:t>
            </a:r>
          </a:p>
        </p:txBody>
      </p:sp>
      <p:grpSp>
        <p:nvGrpSpPr>
          <p:cNvPr name="Group 6" id="6"/>
          <p:cNvGrpSpPr/>
          <p:nvPr/>
        </p:nvGrpSpPr>
        <p:grpSpPr>
          <a:xfrm rot="0">
            <a:off x="10734675" y="666750"/>
            <a:ext cx="6886575" cy="3167380"/>
            <a:chOff x="0" y="0"/>
            <a:chExt cx="9182100" cy="4223173"/>
          </a:xfrm>
        </p:grpSpPr>
        <p:sp>
          <p:nvSpPr>
            <p:cNvPr name="TextBox 7" id="7"/>
            <p:cNvSpPr txBox="true"/>
            <p:nvPr/>
          </p:nvSpPr>
          <p:spPr>
            <a:xfrm rot="0">
              <a:off x="0" y="-76200"/>
              <a:ext cx="9182100" cy="3234271"/>
            </a:xfrm>
            <a:prstGeom prst="rect">
              <a:avLst/>
            </a:prstGeom>
          </p:spPr>
          <p:txBody>
            <a:bodyPr anchor="t" rtlCol="false" tIns="0" lIns="0" bIns="0" rIns="0">
              <a:spAutoFit/>
            </a:bodyPr>
            <a:lstStyle/>
            <a:p>
              <a:pPr algn="l" marL="0" indent="0" lvl="0">
                <a:lnSpc>
                  <a:spcPts val="8500"/>
                </a:lnSpc>
                <a:spcBef>
                  <a:spcPct val="0"/>
                </a:spcBef>
              </a:pPr>
              <a:r>
                <a:rPr lang="en-US" sz="8500">
                  <a:solidFill>
                    <a:srgbClr val="1E2A78"/>
                  </a:solidFill>
                  <a:latin typeface="Arsenica Antiqua"/>
                  <a:ea typeface="Arsenica Antiqua"/>
                  <a:cs typeface="Arsenica Antiqua"/>
                  <a:sym typeface="Arsenica Antiqua"/>
                </a:rPr>
                <a:t>Pipeline Huấn Luyện</a:t>
              </a:r>
            </a:p>
          </p:txBody>
        </p:sp>
        <p:sp>
          <p:nvSpPr>
            <p:cNvPr name="TextBox 8" id="8"/>
            <p:cNvSpPr txBox="true"/>
            <p:nvPr/>
          </p:nvSpPr>
          <p:spPr>
            <a:xfrm rot="0">
              <a:off x="0" y="3543300"/>
              <a:ext cx="9182100" cy="679873"/>
            </a:xfrm>
            <a:prstGeom prst="rect">
              <a:avLst/>
            </a:prstGeom>
          </p:spPr>
          <p:txBody>
            <a:bodyPr anchor="t" rtlCol="false" tIns="0" lIns="0" bIns="0" rIns="0">
              <a:spAutoFit/>
            </a:bodyPr>
            <a:lstStyle/>
            <a:p>
              <a:pPr algn="l" marL="0" indent="0" lvl="0">
                <a:lnSpc>
                  <a:spcPts val="3200"/>
                </a:lnSpc>
              </a:pPr>
              <a:r>
                <a:rPr lang="en-US" sz="3200">
                  <a:solidFill>
                    <a:srgbClr val="1E2A78"/>
                  </a:solidFill>
                  <a:latin typeface="Arsenica Antiqua"/>
                  <a:ea typeface="Arsenica Antiqua"/>
                  <a:cs typeface="Arsenica Antiqua"/>
                  <a:sym typeface="Arsenica Antiqua"/>
                </a:rPr>
                <a:t>Quy trình huấn luyện mô hình VQA</a:t>
              </a:r>
            </a:p>
          </p:txBody>
        </p:sp>
      </p:gr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174349" y="0"/>
            <a:ext cx="6155924" cy="10269368"/>
          </a:xfrm>
          <a:custGeom>
            <a:avLst/>
            <a:gdLst/>
            <a:ahLst/>
            <a:cxnLst/>
            <a:rect r="r" b="b" t="t" l="l"/>
            <a:pathLst>
              <a:path h="10269368" w="6155924">
                <a:moveTo>
                  <a:pt x="0" y="0"/>
                </a:moveTo>
                <a:lnTo>
                  <a:pt x="6155924" y="0"/>
                </a:lnTo>
                <a:lnTo>
                  <a:pt x="6155924" y="10269368"/>
                </a:lnTo>
                <a:lnTo>
                  <a:pt x="0" y="10269368"/>
                </a:lnTo>
                <a:lnTo>
                  <a:pt x="0" y="0"/>
                </a:lnTo>
                <a:close/>
              </a:path>
            </a:pathLst>
          </a:custGeom>
          <a:blipFill>
            <a:blip r:embed="rId2">
              <a:extLst>
                <a:ext uri="{96DAC541-7B7A-43D3-8B79-37D633B846F1}">
                  <asvg:svgBlip xmlns:asvg="http://schemas.microsoft.com/office/drawing/2016/SVG/main" r:embed="rId3"/>
                </a:ext>
              </a:extLst>
            </a:blip>
            <a:stretch>
              <a:fillRect l="-66820" t="0" r="0" b="0"/>
            </a:stretch>
          </a:blipFill>
        </p:spPr>
      </p:sp>
      <p:sp>
        <p:nvSpPr>
          <p:cNvPr name="TextBox 3" id="3"/>
          <p:cNvSpPr txBox="true"/>
          <p:nvPr/>
        </p:nvSpPr>
        <p:spPr>
          <a:xfrm rot="0">
            <a:off x="6419850" y="7175497"/>
            <a:ext cx="8324850" cy="2444753"/>
          </a:xfrm>
          <a:prstGeom prst="rect">
            <a:avLst/>
          </a:prstGeom>
        </p:spPr>
        <p:txBody>
          <a:bodyPr anchor="t" rtlCol="false" tIns="0" lIns="0" bIns="0" rIns="0">
            <a:spAutoFit/>
          </a:bodyPr>
          <a:lstStyle/>
          <a:p>
            <a:pPr algn="l" marL="0" indent="0" lvl="0">
              <a:lnSpc>
                <a:spcPts val="8500"/>
              </a:lnSpc>
              <a:spcBef>
                <a:spcPct val="0"/>
              </a:spcBef>
            </a:pPr>
            <a:r>
              <a:rPr lang="en-US" sz="8500" strike="noStrike" u="none">
                <a:solidFill>
                  <a:srgbClr val="1E2A78"/>
                </a:solidFill>
                <a:latin typeface="Arsenica Antiqua"/>
                <a:ea typeface="Arsenica Antiqua"/>
                <a:cs typeface="Arsenica Antiqua"/>
                <a:sym typeface="Arsenica Antiqua"/>
              </a:rPr>
              <a:t>Kết quả và đánh giá</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0287000" cy="10287000"/>
          </a:xfrm>
          <a:custGeom>
            <a:avLst/>
            <a:gdLst/>
            <a:ahLst/>
            <a:cxnLst/>
            <a:rect r="r" b="b" t="t" l="l"/>
            <a:pathLst>
              <a:path h="10287000" w="10287000">
                <a:moveTo>
                  <a:pt x="0" y="0"/>
                </a:moveTo>
                <a:lnTo>
                  <a:pt x="10287000" y="0"/>
                </a:lnTo>
                <a:lnTo>
                  <a:pt x="10287000" y="10287000"/>
                </a:lnTo>
                <a:lnTo>
                  <a:pt x="0" y="10287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028700" y="1028700"/>
            <a:ext cx="8229600" cy="8229600"/>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4"/>
              <a:stretch>
                <a:fillRect l="0" t="0" r="0" b="0"/>
              </a:stretch>
            </a:blipFill>
          </p:spPr>
        </p:sp>
      </p:grpSp>
      <p:sp>
        <p:nvSpPr>
          <p:cNvPr name="TextBox 5" id="5"/>
          <p:cNvSpPr txBox="true"/>
          <p:nvPr/>
        </p:nvSpPr>
        <p:spPr>
          <a:xfrm rot="0">
            <a:off x="10734675" y="8409305"/>
            <a:ext cx="6886575" cy="1210945"/>
          </a:xfrm>
          <a:prstGeom prst="rect">
            <a:avLst/>
          </a:prstGeom>
        </p:spPr>
        <p:txBody>
          <a:bodyPr anchor="t" rtlCol="false" tIns="0" lIns="0" bIns="0" rIns="0">
            <a:spAutoFit/>
          </a:bodyPr>
          <a:lstStyle/>
          <a:p>
            <a:pPr algn="l" marL="0" indent="0" lvl="0">
              <a:lnSpc>
                <a:spcPts val="3079"/>
              </a:lnSpc>
              <a:spcBef>
                <a:spcPct val="0"/>
              </a:spcBef>
            </a:pPr>
            <a:r>
              <a:rPr lang="en-US" sz="2199">
                <a:solidFill>
                  <a:srgbClr val="000000"/>
                </a:solidFill>
                <a:latin typeface="Rugrats Sans"/>
                <a:ea typeface="Rugrats Sans"/>
                <a:cs typeface="Rugrats Sans"/>
                <a:sym typeface="Rugrats Sans"/>
              </a:rPr>
              <a:t>Bảng kết quả cho thấy độ chính xác của mô hình qua các epoch, với phân tích chi tiết về điểm mạnh và điểm yếu trong quá trình thực hiện VQA.</a:t>
            </a:r>
          </a:p>
        </p:txBody>
      </p:sp>
      <p:grpSp>
        <p:nvGrpSpPr>
          <p:cNvPr name="Group 6" id="6"/>
          <p:cNvGrpSpPr/>
          <p:nvPr/>
        </p:nvGrpSpPr>
        <p:grpSpPr>
          <a:xfrm rot="0">
            <a:off x="10734675" y="666750"/>
            <a:ext cx="6886575" cy="3167380"/>
            <a:chOff x="0" y="0"/>
            <a:chExt cx="9182100" cy="4223173"/>
          </a:xfrm>
        </p:grpSpPr>
        <p:sp>
          <p:nvSpPr>
            <p:cNvPr name="TextBox 7" id="7"/>
            <p:cNvSpPr txBox="true"/>
            <p:nvPr/>
          </p:nvSpPr>
          <p:spPr>
            <a:xfrm rot="0">
              <a:off x="0" y="-76200"/>
              <a:ext cx="9182100" cy="3234271"/>
            </a:xfrm>
            <a:prstGeom prst="rect">
              <a:avLst/>
            </a:prstGeom>
          </p:spPr>
          <p:txBody>
            <a:bodyPr anchor="t" rtlCol="false" tIns="0" lIns="0" bIns="0" rIns="0">
              <a:spAutoFit/>
            </a:bodyPr>
            <a:lstStyle/>
            <a:p>
              <a:pPr algn="l" marL="0" indent="0" lvl="0">
                <a:lnSpc>
                  <a:spcPts val="8500"/>
                </a:lnSpc>
                <a:spcBef>
                  <a:spcPct val="0"/>
                </a:spcBef>
              </a:pPr>
              <a:r>
                <a:rPr lang="en-US" sz="8500">
                  <a:solidFill>
                    <a:srgbClr val="1E2A78"/>
                  </a:solidFill>
                  <a:latin typeface="Arsenica Antiqua"/>
                  <a:ea typeface="Arsenica Antiqua"/>
                  <a:cs typeface="Arsenica Antiqua"/>
                  <a:sym typeface="Arsenica Antiqua"/>
                </a:rPr>
                <a:t>Kết quả thực nghiệm</a:t>
              </a:r>
            </a:p>
          </p:txBody>
        </p:sp>
        <p:sp>
          <p:nvSpPr>
            <p:cNvPr name="TextBox 8" id="8"/>
            <p:cNvSpPr txBox="true"/>
            <p:nvPr/>
          </p:nvSpPr>
          <p:spPr>
            <a:xfrm rot="0">
              <a:off x="0" y="3543300"/>
              <a:ext cx="9182100" cy="679873"/>
            </a:xfrm>
            <a:prstGeom prst="rect">
              <a:avLst/>
            </a:prstGeom>
          </p:spPr>
          <p:txBody>
            <a:bodyPr anchor="t" rtlCol="false" tIns="0" lIns="0" bIns="0" rIns="0">
              <a:spAutoFit/>
            </a:bodyPr>
            <a:lstStyle/>
            <a:p>
              <a:pPr algn="l" marL="0" indent="0" lvl="0">
                <a:lnSpc>
                  <a:spcPts val="3200"/>
                </a:lnSpc>
              </a:pPr>
              <a:r>
                <a:rPr lang="en-US" sz="3200">
                  <a:solidFill>
                    <a:srgbClr val="1E2A78"/>
                  </a:solidFill>
                  <a:latin typeface="Arsenica Antiqua"/>
                  <a:ea typeface="Arsenica Antiqua"/>
                  <a:cs typeface="Arsenica Antiqua"/>
                  <a:sym typeface="Arsenica Antiqua"/>
                </a:rPr>
                <a:t>Đánh giá hiệu suất mô hình VQA</a:t>
              </a:r>
            </a:p>
          </p:txBody>
        </p:sp>
      </p:grpSp>
    </p:spTree>
  </p:cSld>
  <p:clrMapOvr>
    <a:masterClrMapping/>
  </p:clrMapOvr>
</p:sld>
</file>

<file path=ppt/slides/slide19.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0" y="0"/>
            <a:ext cx="9144000" cy="10287000"/>
            <a:chOff x="0" y="0"/>
            <a:chExt cx="2408296" cy="2709333"/>
          </a:xfrm>
        </p:grpSpPr>
        <p:sp>
          <p:nvSpPr>
            <p:cNvPr name="Freeform 3" id="3"/>
            <p:cNvSpPr/>
            <p:nvPr/>
          </p:nvSpPr>
          <p:spPr>
            <a:xfrm flipH="false" flipV="false" rot="0">
              <a:off x="0" y="0"/>
              <a:ext cx="2408296" cy="2709333"/>
            </a:xfrm>
            <a:custGeom>
              <a:avLst/>
              <a:gdLst/>
              <a:ahLst/>
              <a:cxnLst/>
              <a:rect r="r" b="b" t="t" l="l"/>
              <a:pathLst>
                <a:path h="2709333" w="2408296">
                  <a:moveTo>
                    <a:pt x="0" y="0"/>
                  </a:moveTo>
                  <a:lnTo>
                    <a:pt x="2408296" y="0"/>
                  </a:lnTo>
                  <a:lnTo>
                    <a:pt x="2408296" y="2709333"/>
                  </a:lnTo>
                  <a:lnTo>
                    <a:pt x="0" y="2709333"/>
                  </a:lnTo>
                  <a:close/>
                </a:path>
              </a:pathLst>
            </a:custGeom>
            <a:solidFill>
              <a:srgbClr val="1E2A78"/>
            </a:solidFill>
          </p:spPr>
        </p:sp>
        <p:sp>
          <p:nvSpPr>
            <p:cNvPr name="TextBox 4" id="4"/>
            <p:cNvSpPr txBox="true"/>
            <p:nvPr/>
          </p:nvSpPr>
          <p:spPr>
            <a:xfrm>
              <a:off x="0" y="-114300"/>
              <a:ext cx="2408296" cy="2823633"/>
            </a:xfrm>
            <a:prstGeom prst="rect">
              <a:avLst/>
            </a:prstGeom>
          </p:spPr>
          <p:txBody>
            <a:bodyPr anchor="ctr" rtlCol="false" tIns="50800" lIns="50800" bIns="50800" rIns="50800"/>
            <a:lstStyle/>
            <a:p>
              <a:pPr algn="ctr" marL="0" indent="0" lvl="0">
                <a:lnSpc>
                  <a:spcPts val="3500"/>
                </a:lnSpc>
              </a:pPr>
            </a:p>
          </p:txBody>
        </p:sp>
      </p:grpSp>
      <p:grpSp>
        <p:nvGrpSpPr>
          <p:cNvPr name="Group 5" id="5"/>
          <p:cNvGrpSpPr/>
          <p:nvPr/>
        </p:nvGrpSpPr>
        <p:grpSpPr>
          <a:xfrm rot="0">
            <a:off x="2105025" y="3396615"/>
            <a:ext cx="5448300" cy="3411219"/>
            <a:chOff x="0" y="0"/>
            <a:chExt cx="7264400" cy="4548293"/>
          </a:xfrm>
        </p:grpSpPr>
        <p:sp>
          <p:nvSpPr>
            <p:cNvPr name="TextBox 6" id="6"/>
            <p:cNvSpPr txBox="true"/>
            <p:nvPr/>
          </p:nvSpPr>
          <p:spPr>
            <a:xfrm rot="0">
              <a:off x="0" y="-95250"/>
              <a:ext cx="7264400" cy="2200064"/>
            </a:xfrm>
            <a:prstGeom prst="rect">
              <a:avLst/>
            </a:prstGeom>
          </p:spPr>
          <p:txBody>
            <a:bodyPr anchor="t" rtlCol="false" tIns="0" lIns="0" bIns="0" rIns="0">
              <a:spAutoFit/>
            </a:bodyPr>
            <a:lstStyle/>
            <a:p>
              <a:pPr algn="l" marL="0" indent="0" lvl="0">
                <a:lnSpc>
                  <a:spcPts val="10400"/>
                </a:lnSpc>
              </a:pPr>
              <a:r>
                <a:rPr lang="en-US" sz="10400">
                  <a:solidFill>
                    <a:srgbClr val="F4F4F4"/>
                  </a:solidFill>
                  <a:latin typeface="Arsenica Antiqua"/>
                  <a:ea typeface="Arsenica Antiqua"/>
                  <a:cs typeface="Arsenica Antiqua"/>
                  <a:sym typeface="Arsenica Antiqua"/>
                </a:rPr>
                <a:t>85%</a:t>
              </a:r>
            </a:p>
          </p:txBody>
        </p:sp>
        <p:sp>
          <p:nvSpPr>
            <p:cNvPr name="TextBox 7" id="7"/>
            <p:cNvSpPr txBox="true"/>
            <p:nvPr/>
          </p:nvSpPr>
          <p:spPr>
            <a:xfrm rot="0">
              <a:off x="0" y="2349500"/>
              <a:ext cx="7264400" cy="891540"/>
            </a:xfrm>
            <a:prstGeom prst="rect">
              <a:avLst/>
            </a:prstGeom>
          </p:spPr>
          <p:txBody>
            <a:bodyPr anchor="t" rtlCol="false" tIns="0" lIns="0" bIns="0" rIns="0">
              <a:spAutoFit/>
            </a:bodyPr>
            <a:lstStyle/>
            <a:p>
              <a:pPr algn="l" marL="0" indent="0" lvl="0">
                <a:lnSpc>
                  <a:spcPts val="4200"/>
                </a:lnSpc>
              </a:pPr>
              <a:r>
                <a:rPr lang="en-US" sz="4200">
                  <a:solidFill>
                    <a:srgbClr val="F4F4F4"/>
                  </a:solidFill>
                  <a:latin typeface="Arsenica Antiqua"/>
                  <a:ea typeface="Arsenica Antiqua"/>
                  <a:cs typeface="Arsenica Antiqua"/>
                  <a:sym typeface="Arsenica Antiqua"/>
                </a:rPr>
                <a:t>Điểm mạnh</a:t>
              </a:r>
            </a:p>
          </p:txBody>
        </p:sp>
        <p:sp>
          <p:nvSpPr>
            <p:cNvPr name="TextBox 8" id="8"/>
            <p:cNvSpPr txBox="true"/>
            <p:nvPr/>
          </p:nvSpPr>
          <p:spPr>
            <a:xfrm rot="0">
              <a:off x="0" y="3486150"/>
              <a:ext cx="7264400" cy="1062143"/>
            </a:xfrm>
            <a:prstGeom prst="rect">
              <a:avLst/>
            </a:prstGeom>
          </p:spPr>
          <p:txBody>
            <a:bodyPr anchor="t" rtlCol="false" tIns="0" lIns="0" bIns="0" rIns="0">
              <a:spAutoFit/>
            </a:bodyPr>
            <a:lstStyle/>
            <a:p>
              <a:pPr algn="l" marL="0" indent="0" lvl="0">
                <a:lnSpc>
                  <a:spcPts val="3080"/>
                </a:lnSpc>
                <a:spcBef>
                  <a:spcPct val="0"/>
                </a:spcBef>
              </a:pPr>
              <a:r>
                <a:rPr lang="en-US" sz="2200">
                  <a:solidFill>
                    <a:srgbClr val="F4F4F4"/>
                  </a:solidFill>
                  <a:latin typeface="Rugrats Sans"/>
                  <a:ea typeface="Rugrats Sans"/>
                  <a:cs typeface="Rugrats Sans"/>
                  <a:sym typeface="Rugrats Sans"/>
                </a:rPr>
                <a:t>Mô hình đạt hiệu suất</a:t>
              </a:r>
              <a:r>
                <a:rPr lang="en-US" sz="2200">
                  <a:solidFill>
                    <a:srgbClr val="F4F4F4"/>
                  </a:solidFill>
                  <a:latin typeface="Rugrats Sans"/>
                  <a:ea typeface="Rugrats Sans"/>
                  <a:cs typeface="Rugrats Sans"/>
                  <a:sym typeface="Rugrats Sans"/>
                </a:rPr>
                <a:t> cao trong các bài kiểm tra</a:t>
              </a:r>
            </a:p>
          </p:txBody>
        </p:sp>
      </p:grpSp>
      <p:grpSp>
        <p:nvGrpSpPr>
          <p:cNvPr name="Group 9" id="9"/>
          <p:cNvGrpSpPr/>
          <p:nvPr/>
        </p:nvGrpSpPr>
        <p:grpSpPr>
          <a:xfrm rot="0">
            <a:off x="10734675" y="3396615"/>
            <a:ext cx="5448300" cy="3411219"/>
            <a:chOff x="0" y="0"/>
            <a:chExt cx="7264400" cy="4548293"/>
          </a:xfrm>
        </p:grpSpPr>
        <p:sp>
          <p:nvSpPr>
            <p:cNvPr name="TextBox 10" id="10"/>
            <p:cNvSpPr txBox="true"/>
            <p:nvPr/>
          </p:nvSpPr>
          <p:spPr>
            <a:xfrm rot="0">
              <a:off x="0" y="-95250"/>
              <a:ext cx="7264400" cy="2200064"/>
            </a:xfrm>
            <a:prstGeom prst="rect">
              <a:avLst/>
            </a:prstGeom>
          </p:spPr>
          <p:txBody>
            <a:bodyPr anchor="t" rtlCol="false" tIns="0" lIns="0" bIns="0" rIns="0">
              <a:spAutoFit/>
            </a:bodyPr>
            <a:lstStyle/>
            <a:p>
              <a:pPr algn="l" marL="0" indent="0" lvl="0">
                <a:lnSpc>
                  <a:spcPts val="10400"/>
                </a:lnSpc>
              </a:pPr>
              <a:r>
                <a:rPr lang="en-US" sz="10400">
                  <a:solidFill>
                    <a:srgbClr val="1E2A78"/>
                  </a:solidFill>
                  <a:latin typeface="Arsenica Antiqua"/>
                  <a:ea typeface="Arsenica Antiqua"/>
                  <a:cs typeface="Arsenica Antiqua"/>
                  <a:sym typeface="Arsenica Antiqua"/>
                </a:rPr>
                <a:t>60%</a:t>
              </a:r>
            </a:p>
          </p:txBody>
        </p:sp>
        <p:sp>
          <p:nvSpPr>
            <p:cNvPr name="TextBox 11" id="11"/>
            <p:cNvSpPr txBox="true"/>
            <p:nvPr/>
          </p:nvSpPr>
          <p:spPr>
            <a:xfrm rot="0">
              <a:off x="0" y="2349500"/>
              <a:ext cx="7264400" cy="891540"/>
            </a:xfrm>
            <a:prstGeom prst="rect">
              <a:avLst/>
            </a:prstGeom>
          </p:spPr>
          <p:txBody>
            <a:bodyPr anchor="t" rtlCol="false" tIns="0" lIns="0" bIns="0" rIns="0">
              <a:spAutoFit/>
            </a:bodyPr>
            <a:lstStyle/>
            <a:p>
              <a:pPr algn="l" marL="0" indent="0" lvl="0">
                <a:lnSpc>
                  <a:spcPts val="4200"/>
                </a:lnSpc>
              </a:pPr>
              <a:r>
                <a:rPr lang="en-US" sz="4200">
                  <a:solidFill>
                    <a:srgbClr val="1E2A78"/>
                  </a:solidFill>
                  <a:latin typeface="Arsenica Antiqua"/>
                  <a:ea typeface="Arsenica Antiqua"/>
                  <a:cs typeface="Arsenica Antiqua"/>
                  <a:sym typeface="Arsenica Antiqua"/>
                </a:rPr>
                <a:t>Điểm yếu</a:t>
              </a:r>
            </a:p>
          </p:txBody>
        </p:sp>
        <p:sp>
          <p:nvSpPr>
            <p:cNvPr name="TextBox 12" id="12"/>
            <p:cNvSpPr txBox="true"/>
            <p:nvPr/>
          </p:nvSpPr>
          <p:spPr>
            <a:xfrm rot="0">
              <a:off x="0" y="3486150"/>
              <a:ext cx="7264400" cy="1062143"/>
            </a:xfrm>
            <a:prstGeom prst="rect">
              <a:avLst/>
            </a:prstGeom>
          </p:spPr>
          <p:txBody>
            <a:bodyPr anchor="t" rtlCol="false" tIns="0" lIns="0" bIns="0" rIns="0">
              <a:spAutoFit/>
            </a:bodyPr>
            <a:lstStyle/>
            <a:p>
              <a:pPr algn="l" marL="0" indent="0" lvl="0">
                <a:lnSpc>
                  <a:spcPts val="3080"/>
                </a:lnSpc>
                <a:spcBef>
                  <a:spcPct val="0"/>
                </a:spcBef>
              </a:pPr>
              <a:r>
                <a:rPr lang="en-US" sz="2200">
                  <a:solidFill>
                    <a:srgbClr val="000000"/>
                  </a:solidFill>
                  <a:latin typeface="Rugrats Sans"/>
                  <a:ea typeface="Rugrats Sans"/>
                  <a:cs typeface="Rugrats Sans"/>
                  <a:sym typeface="Rugrats Sans"/>
                </a:rPr>
                <a:t>Tỷ lệ overfitting</a:t>
              </a:r>
              <a:r>
                <a:rPr lang="en-US" sz="2200">
                  <a:solidFill>
                    <a:srgbClr val="000000"/>
                  </a:solidFill>
                  <a:latin typeface="Rugrats Sans"/>
                  <a:ea typeface="Rugrats Sans"/>
                  <a:cs typeface="Rugrats Sans"/>
                  <a:sym typeface="Rugrats Sans"/>
                </a:rPr>
                <a:t> cần được giảm thiểu hiệu quả</a:t>
              </a:r>
            </a:p>
          </p:txBody>
        </p:sp>
      </p:gr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174349" y="0"/>
            <a:ext cx="6155924" cy="10269368"/>
          </a:xfrm>
          <a:custGeom>
            <a:avLst/>
            <a:gdLst/>
            <a:ahLst/>
            <a:cxnLst/>
            <a:rect r="r" b="b" t="t" l="l"/>
            <a:pathLst>
              <a:path h="10269368" w="6155924">
                <a:moveTo>
                  <a:pt x="0" y="0"/>
                </a:moveTo>
                <a:lnTo>
                  <a:pt x="6155924" y="0"/>
                </a:lnTo>
                <a:lnTo>
                  <a:pt x="6155924" y="10269368"/>
                </a:lnTo>
                <a:lnTo>
                  <a:pt x="0" y="10269368"/>
                </a:lnTo>
                <a:lnTo>
                  <a:pt x="0" y="0"/>
                </a:lnTo>
                <a:close/>
              </a:path>
            </a:pathLst>
          </a:custGeom>
          <a:blipFill>
            <a:blip r:embed="rId2">
              <a:extLst>
                <a:ext uri="{96DAC541-7B7A-43D3-8B79-37D633B846F1}">
                  <asvg:svgBlip xmlns:asvg="http://schemas.microsoft.com/office/drawing/2016/SVG/main" r:embed="rId3"/>
                </a:ext>
              </a:extLst>
            </a:blip>
            <a:stretch>
              <a:fillRect l="-66820" t="0" r="0" b="0"/>
            </a:stretch>
          </a:blipFill>
        </p:spPr>
      </p:sp>
      <p:sp>
        <p:nvSpPr>
          <p:cNvPr name="TextBox 3" id="3"/>
          <p:cNvSpPr txBox="true"/>
          <p:nvPr/>
        </p:nvSpPr>
        <p:spPr>
          <a:xfrm rot="0">
            <a:off x="6419850" y="7175497"/>
            <a:ext cx="8324850" cy="2444753"/>
          </a:xfrm>
          <a:prstGeom prst="rect">
            <a:avLst/>
          </a:prstGeom>
        </p:spPr>
        <p:txBody>
          <a:bodyPr anchor="t" rtlCol="false" tIns="0" lIns="0" bIns="0" rIns="0">
            <a:spAutoFit/>
          </a:bodyPr>
          <a:lstStyle/>
          <a:p>
            <a:pPr algn="l" marL="0" indent="0" lvl="0">
              <a:lnSpc>
                <a:spcPts val="8500"/>
              </a:lnSpc>
              <a:spcBef>
                <a:spcPct val="0"/>
              </a:spcBef>
            </a:pPr>
            <a:r>
              <a:rPr lang="en-US" sz="8500" strike="noStrike" u="none">
                <a:solidFill>
                  <a:srgbClr val="1E2A78"/>
                </a:solidFill>
                <a:latin typeface="Arsenica Antiqua"/>
                <a:ea typeface="Arsenica Antiqua"/>
                <a:cs typeface="Arsenica Antiqua"/>
                <a:sym typeface="Arsenica Antiqua"/>
              </a:rPr>
              <a:t>Hướng phát triển</a:t>
            </a: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666750" y="590550"/>
            <a:ext cx="14077950" cy="1368428"/>
          </a:xfrm>
          <a:prstGeom prst="rect">
            <a:avLst/>
          </a:prstGeom>
        </p:spPr>
        <p:txBody>
          <a:bodyPr anchor="t" rtlCol="false" tIns="0" lIns="0" bIns="0" rIns="0">
            <a:spAutoFit/>
          </a:bodyPr>
          <a:lstStyle/>
          <a:p>
            <a:pPr algn="l" marL="0" indent="0" lvl="0">
              <a:lnSpc>
                <a:spcPts val="8500"/>
              </a:lnSpc>
              <a:spcBef>
                <a:spcPct val="0"/>
              </a:spcBef>
            </a:pPr>
            <a:r>
              <a:rPr lang="en-US" sz="8500" spc="-144">
                <a:solidFill>
                  <a:srgbClr val="1E2A78"/>
                </a:solidFill>
                <a:latin typeface="Arsenica Antiqua"/>
                <a:ea typeface="Arsenica Antiqua"/>
                <a:cs typeface="Arsenica Antiqua"/>
                <a:sym typeface="Arsenica Antiqua"/>
              </a:rPr>
              <a:t>Hướng phát triển VQA</a:t>
            </a:r>
          </a:p>
        </p:txBody>
      </p:sp>
      <p:grpSp>
        <p:nvGrpSpPr>
          <p:cNvPr name="Group 3" id="3"/>
          <p:cNvGrpSpPr/>
          <p:nvPr/>
        </p:nvGrpSpPr>
        <p:grpSpPr>
          <a:xfrm rot="0">
            <a:off x="666750" y="6699885"/>
            <a:ext cx="6886575" cy="2920365"/>
            <a:chOff x="0" y="0"/>
            <a:chExt cx="9182100" cy="3893819"/>
          </a:xfrm>
        </p:grpSpPr>
        <p:sp>
          <p:nvSpPr>
            <p:cNvPr name="AutoShape 4" id="4"/>
            <p:cNvSpPr/>
            <p:nvPr/>
          </p:nvSpPr>
          <p:spPr>
            <a:xfrm flipH="true">
              <a:off x="0" y="19050"/>
              <a:ext cx="3429000" cy="0"/>
            </a:xfrm>
            <a:prstGeom prst="line">
              <a:avLst/>
            </a:prstGeom>
            <a:ln cap="flat" w="38100">
              <a:solidFill>
                <a:srgbClr val="000000"/>
              </a:solidFill>
              <a:prstDash val="solid"/>
              <a:headEnd type="none" len="sm" w="sm"/>
              <a:tailEnd type="none" len="sm" w="sm"/>
            </a:ln>
          </p:spPr>
        </p:sp>
        <p:sp>
          <p:nvSpPr>
            <p:cNvPr name="TextBox 5" id="5"/>
            <p:cNvSpPr txBox="true"/>
            <p:nvPr/>
          </p:nvSpPr>
          <p:spPr>
            <a:xfrm rot="0">
              <a:off x="0" y="1790277"/>
              <a:ext cx="9182100" cy="2103543"/>
            </a:xfrm>
            <a:prstGeom prst="rect">
              <a:avLst/>
            </a:prstGeom>
          </p:spPr>
          <p:txBody>
            <a:bodyPr anchor="t" rtlCol="false" tIns="0" lIns="0" bIns="0" rIns="0">
              <a:spAutoFit/>
            </a:bodyPr>
            <a:lstStyle/>
            <a:p>
              <a:pPr algn="l" marL="474984" indent="-237492" lvl="1">
                <a:lnSpc>
                  <a:spcPts val="3080"/>
                </a:lnSpc>
                <a:buFont typeface="Arial"/>
                <a:buChar char="•"/>
              </a:pPr>
              <a:r>
                <a:rPr lang="en-US" sz="2200" strike="noStrike" u="none">
                  <a:solidFill>
                    <a:srgbClr val="000000"/>
                  </a:solidFill>
                  <a:latin typeface="Rugrats Sans"/>
                  <a:ea typeface="Rugrats Sans"/>
                  <a:cs typeface="Rugrats Sans"/>
                  <a:sym typeface="Rugrats Sans"/>
                </a:rPr>
                <a:t>Tăng cường dữ liệu</a:t>
              </a:r>
            </a:p>
            <a:p>
              <a:pPr algn="l" marL="474984" indent="-237492" lvl="1">
                <a:lnSpc>
                  <a:spcPts val="3080"/>
                </a:lnSpc>
                <a:buFont typeface="Arial"/>
                <a:buChar char="•"/>
              </a:pPr>
              <a:r>
                <a:rPr lang="en-US" sz="2200" strike="noStrike" u="none">
                  <a:solidFill>
                    <a:srgbClr val="000000"/>
                  </a:solidFill>
                  <a:latin typeface="Rugrats Sans"/>
                  <a:ea typeface="Rugrats Sans"/>
                  <a:cs typeface="Rugrats Sans"/>
                  <a:sym typeface="Rugrats Sans"/>
                </a:rPr>
                <a:t>Dùng transformer đa phương thức</a:t>
              </a:r>
            </a:p>
            <a:p>
              <a:pPr algn="l" marL="474984" indent="-237492" lvl="1">
                <a:lnSpc>
                  <a:spcPts val="3080"/>
                </a:lnSpc>
                <a:buFont typeface="Arial"/>
                <a:buChar char="•"/>
              </a:pPr>
              <a:r>
                <a:rPr lang="en-US" sz="2200" strike="noStrike" u="none">
                  <a:solidFill>
                    <a:srgbClr val="000000"/>
                  </a:solidFill>
                  <a:latin typeface="Rugrats Sans"/>
                  <a:ea typeface="Rugrats Sans"/>
                  <a:cs typeface="Rugrats Sans"/>
                  <a:sym typeface="Rugrats Sans"/>
                </a:rPr>
                <a:t>Regularization để giảm overfitting</a:t>
              </a:r>
            </a:p>
            <a:p>
              <a:pPr algn="l" marL="474984" indent="-237492" lvl="1">
                <a:lnSpc>
                  <a:spcPts val="3080"/>
                </a:lnSpc>
                <a:buFont typeface="Arial"/>
                <a:buChar char="•"/>
              </a:pPr>
              <a:r>
                <a:rPr lang="en-US" sz="2200" strike="noStrike" u="none">
                  <a:solidFill>
                    <a:srgbClr val="000000"/>
                  </a:solidFill>
                  <a:latin typeface="Rugrats Sans"/>
                  <a:ea typeface="Rugrats Sans"/>
                  <a:cs typeface="Rugrats Sans"/>
                  <a:sym typeface="Rugrats Sans"/>
                </a:rPr>
                <a:t>Fine-tune toàn bộ mô hình</a:t>
              </a:r>
            </a:p>
          </p:txBody>
        </p:sp>
        <p:sp>
          <p:nvSpPr>
            <p:cNvPr name="TextBox 6" id="6"/>
            <p:cNvSpPr txBox="true"/>
            <p:nvPr/>
          </p:nvSpPr>
          <p:spPr>
            <a:xfrm rot="0">
              <a:off x="0" y="497970"/>
              <a:ext cx="9182100" cy="541443"/>
            </a:xfrm>
            <a:prstGeom prst="rect">
              <a:avLst/>
            </a:prstGeom>
          </p:spPr>
          <p:txBody>
            <a:bodyPr anchor="t" rtlCol="false" tIns="0" lIns="0" bIns="0" rIns="0">
              <a:spAutoFit/>
            </a:bodyPr>
            <a:lstStyle/>
            <a:p>
              <a:pPr algn="l" marL="0" indent="0" lvl="0">
                <a:lnSpc>
                  <a:spcPts val="3080"/>
                </a:lnSpc>
                <a:spcBef>
                  <a:spcPct val="0"/>
                </a:spcBef>
              </a:pPr>
              <a:r>
                <a:rPr lang="en-US" sz="2200">
                  <a:solidFill>
                    <a:srgbClr val="000000"/>
                  </a:solidFill>
                  <a:latin typeface="Rugrats Sans"/>
                  <a:ea typeface="Rugrats Sans"/>
                  <a:cs typeface="Rugrats Sans"/>
                  <a:sym typeface="Rugrats Sans"/>
                </a:rPr>
                <a:t>Các cải tiến và định hướng tương lai</a:t>
              </a:r>
            </a:p>
          </p:txBody>
        </p:sp>
      </p:grpSp>
      <p:sp>
        <p:nvSpPr>
          <p:cNvPr name="Freeform 7" id="7"/>
          <p:cNvSpPr/>
          <p:nvPr/>
        </p:nvSpPr>
        <p:spPr>
          <a:xfrm flipH="false" flipV="false" rot="0">
            <a:off x="16725900" y="666750"/>
            <a:ext cx="895350" cy="895350"/>
          </a:xfrm>
          <a:custGeom>
            <a:avLst/>
            <a:gdLst/>
            <a:ahLst/>
            <a:cxnLst/>
            <a:rect r="r" b="b" t="t" l="l"/>
            <a:pathLst>
              <a:path h="895350" w="895350">
                <a:moveTo>
                  <a:pt x="0" y="0"/>
                </a:moveTo>
                <a:lnTo>
                  <a:pt x="895350" y="0"/>
                </a:lnTo>
                <a:lnTo>
                  <a:pt x="895350" y="895350"/>
                </a:lnTo>
                <a:lnTo>
                  <a:pt x="0" y="89535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666750" y="628650"/>
            <a:ext cx="5448300" cy="678180"/>
          </a:xfrm>
          <a:prstGeom prst="rect">
            <a:avLst/>
          </a:prstGeom>
        </p:spPr>
        <p:txBody>
          <a:bodyPr anchor="t" rtlCol="false" tIns="0" lIns="0" bIns="0" rIns="0">
            <a:spAutoFit/>
          </a:bodyPr>
          <a:lstStyle/>
          <a:p>
            <a:pPr algn="l" marL="0" indent="0" lvl="0">
              <a:lnSpc>
                <a:spcPts val="4200"/>
              </a:lnSpc>
            </a:pPr>
            <a:r>
              <a:rPr lang="en-US" sz="4200" spc="-71">
                <a:solidFill>
                  <a:srgbClr val="1E2A78"/>
                </a:solidFill>
                <a:latin typeface="Arsenica Antiqua"/>
                <a:ea typeface="Arsenica Antiqua"/>
                <a:cs typeface="Arsenica Antiqua"/>
                <a:sym typeface="Arsenica Antiqua"/>
              </a:rPr>
              <a:t>Cảm ơn và Hỏi đáp</a:t>
            </a:r>
          </a:p>
        </p:txBody>
      </p:sp>
      <p:sp>
        <p:nvSpPr>
          <p:cNvPr name="Freeform 3" id="3"/>
          <p:cNvSpPr/>
          <p:nvPr/>
        </p:nvSpPr>
        <p:spPr>
          <a:xfrm flipH="false" flipV="false" rot="0">
            <a:off x="8001000" y="0"/>
            <a:ext cx="10287000" cy="10287000"/>
          </a:xfrm>
          <a:custGeom>
            <a:avLst/>
            <a:gdLst/>
            <a:ahLst/>
            <a:cxnLst/>
            <a:rect r="r" b="b" t="t" l="l"/>
            <a:pathLst>
              <a:path h="10287000" w="10287000">
                <a:moveTo>
                  <a:pt x="0" y="0"/>
                </a:moveTo>
                <a:lnTo>
                  <a:pt x="10287000" y="0"/>
                </a:lnTo>
                <a:lnTo>
                  <a:pt x="10287000" y="10287000"/>
                </a:lnTo>
                <a:lnTo>
                  <a:pt x="0" y="10287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4" id="4"/>
          <p:cNvGrpSpPr/>
          <p:nvPr/>
        </p:nvGrpSpPr>
        <p:grpSpPr>
          <a:xfrm rot="0">
            <a:off x="9029700" y="1028700"/>
            <a:ext cx="8229600" cy="8229600"/>
            <a:chOff x="0" y="0"/>
            <a:chExt cx="812800" cy="812800"/>
          </a:xfrm>
        </p:grpSpPr>
        <p:sp>
          <p:nvSpPr>
            <p:cNvPr name="Freeform 5" id="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4"/>
              <a:stretch>
                <a:fillRect l="0" t="0" r="0" b="0"/>
              </a:stretch>
            </a:blipFill>
          </p:spPr>
        </p:sp>
      </p:grpSp>
    </p:spTree>
  </p:cSld>
  <p:clrMapOvr>
    <a:masterClrMapping/>
  </p:clrMapOvr>
</p:sld>
</file>

<file path=ppt/slides/slide23.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description>Bài thuyết trình - Thiết kế bài thuyết trình VQA</dc:description>
  <dc:identifier>DAG1gOcEY8U</dc:identifier>
  <dcterms:modified xsi:type="dcterms:W3CDTF">2011-08-01T06:04:30Z</dcterms:modified>
  <cp:revision>1</cp:revision>
  <dc:title>Bài thuyết trình - Thiết kế bài thuyết trình VQA</dc:title>
</cp:coreProperties>
</file>